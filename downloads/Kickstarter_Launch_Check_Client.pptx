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6cd1c8-7f28-9c9a-b935-3cd3abe22161}">
          <p14:sldIdLst>
            <p14:sldId id="256"/>
            <p14:sldId id="257"/>
            <p14:sldId id="258"/>
            <p14:sldId id="259"/>
          </p14:sldIdLst>
        </p14:section>
        <p14:section name="What matters" id="{7beb4d3b-9042-8a83-6405-2f612a87d687}">
          <p14:sldIdLst>
            <p14:sldId id="260"/>
            <p14:sldId id="261"/>
            <p14:sldId id="262"/>
            <p14:sldId id="263"/>
          </p14:sldIdLst>
        </p14:section>
        <p14:section name="Launch Check" id="{8a07faa1-5b7d-1aee-5614-dbf4b0a51b72}">
          <p14:sldIdLst>
            <p14:sldId id="264"/>
            <p14:sldId id="265"/>
            <p14:sldId id="266"/>
            <p14:sldId id="267"/>
            <p14:sldId id="268"/>
          </p14:sldIdLst>
        </p14:section>
        <p14:section name="What to do" id="{b8e6df14-2b18-929a-eed1-a76a84b94135}">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chance</c:v>
                </c:pt>
              </c:strCache>
            </c:strRef>
          </c:tx>
          <c:spPr>
            <a:solidFill>
              <a:schemeClr val="accent1"/>
            </a:solidFill>
            <a:ln w="9525" cap="flat">
              <a:solidFill>
                <a:srgbClr val="F9F9F9"/>
              </a:solidFill>
              <a:prstDash val="solid"/>
              <a:round/>
            </a:ln>
            <a:effectLst/>
          </c:spPr>
          <c:dPt>
            <c:idx val="0"/>
            <c:bubble3D val="0"/>
            <c:spPr>
              <a:solidFill>
                <a:srgbClr val="05CE78"/>
              </a:solidFill>
              <a:ln w="9525" cap="flat">
                <a:solidFill>
                  <a:srgbClr val="FFFFFF"/>
                </a:solidFill>
                <a:prstDash val="solid"/>
                <a:round/>
              </a:ln>
              <a:effectLst/>
            </c:spPr>
          </c:dPt>
          <c:dPt>
            <c:idx val="1"/>
            <c:bubble3D val="0"/>
            <c:spPr>
              <a:solidFill>
                <a:srgbClr val="E1E5E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funded</c:v>
                </c:pt>
                <c:pt idx="1">
                  <c:v>rest</c:v>
                </c:pt>
              </c:strCache>
            </c:strRef>
          </c:cat>
          <c:val>
            <c:numRef>
              <c:f>Sheet1!$B$2:$B$3</c:f>
              <c:numCache>
                <c:ptCount val="2"/>
                <c:pt idx="0">
                  <c:v>0.511</c:v>
                </c:pt>
                <c:pt idx="1">
                  <c:v>0.489</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funded by funding goal</c:v>
                </c:pt>
              </c:strCache>
            </c:strRef>
          </c:tx>
          <c:spPr>
            <a:solidFill>
              <a:srgbClr val="05CE78"/>
            </a:solidFill>
            <a:effectLst/>
          </c:spPr>
          <c:invertIfNegative val="0"/>
          <c:dLbls>
            <c:numFmt formatCode="0%" sourceLinked="0"/>
            <c:txPr>
              <a:bodyPr/>
              <a:lstStyle/>
              <a:p>
                <a:pPr>
                  <a:defRPr b="1" i="0" strike="noStrike" sz="14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05CE78"/>
              </a:solidFill>
              <a:effectLst/>
            </c:spPr>
          </c:dPt>
          <c:dPt>
            <c:idx val="3"/>
            <c:invertIfNegative val="0"/>
            <c:bubble3D val="0"/>
            <c:spPr>
              <a:solidFill>
                <a:srgbClr val="05CE78"/>
              </a:solidFill>
              <a:effectLst/>
            </c:spPr>
          </c:dPt>
          <c:dPt>
            <c:idx val="4"/>
            <c:invertIfNegative val="0"/>
            <c:bubble3D val="0"/>
            <c:spPr>
              <a:solidFill>
                <a:srgbClr val="05CE78"/>
              </a:solidFill>
              <a:effectLst/>
            </c:spPr>
          </c:dPt>
          <c:dPt>
            <c:idx val="5"/>
            <c:invertIfNegative val="0"/>
            <c:bubble3D val="0"/>
            <c:spPr>
              <a:solidFill>
                <a:srgbClr val="05CE78"/>
              </a:solidFill>
              <a:effectLst/>
            </c:spPr>
          </c:dPt>
          <c:dPt>
            <c:idx val="6"/>
            <c:invertIfNegative val="0"/>
            <c:bubble3D val="0"/>
            <c:spPr>
              <a:solidFill>
                <a:srgbClr val="05CE78"/>
              </a:solidFill>
              <a:effectLst/>
            </c:spPr>
          </c:dPt>
          <c:dPt>
            <c:idx val="7"/>
            <c:invertIfNegative val="0"/>
            <c:bubble3D val="0"/>
            <c:spPr>
              <a:solidFill>
                <a:srgbClr val="05CE78"/>
              </a:solidFill>
              <a:effectLst/>
            </c:spPr>
          </c:dPt>
          <c:cat>
            <c:multiLvlStrRef>
              <c:f>Sheet1!$A$2:$A$9</c:f>
              <c:multiLvlStrCache>
                <c:ptCount val="8"/>
                <c:lvl>
                  <c:pt idx="0">
                    <c:v>Up to $1k</c:v>
                  </c:pt>
                  <c:pt idx="1">
                    <c:v>$1k to $2.5k</c:v>
                  </c:pt>
                  <c:pt idx="2">
                    <c:v>$2.5k to $5k</c:v>
                  </c:pt>
                  <c:pt idx="3">
                    <c:v>$5k to $10k</c:v>
                  </c:pt>
                  <c:pt idx="4">
                    <c:v>$10k to $25k</c:v>
                  </c:pt>
                  <c:pt idx="5">
                    <c:v>$25k to $50k</c:v>
                  </c:pt>
                  <c:pt idx="6">
                    <c:v>$50k to $100k</c:v>
                  </c:pt>
                  <c:pt idx="7">
                    <c:v>Over $100k</c:v>
                  </c:pt>
                </c:lvl>
              </c:multiLvlStrCache>
            </c:multiLvlStrRef>
          </c:cat>
          <c:val>
            <c:numRef>
              <c:f>Sheet1!$B$2:$B$9</c:f>
              <c:numCache>
                <c:formatCode>General</c:formatCode>
                <c:ptCount val="8"/>
                <c:pt idx="0">
                  <c:v>0.494</c:v>
                </c:pt>
                <c:pt idx="1">
                  <c:v>0.46</c:v>
                </c:pt>
                <c:pt idx="2">
                  <c:v>0.404</c:v>
                </c:pt>
                <c:pt idx="3">
                  <c:v>0.354</c:v>
                </c:pt>
                <c:pt idx="4">
                  <c:v>0.296</c:v>
                </c:pt>
                <c:pt idx="5">
                  <c:v>0.211</c:v>
                </c:pt>
                <c:pt idx="6">
                  <c:v>0.14</c:v>
                </c:pt>
                <c:pt idx="7">
                  <c:v>0.058</c:v>
                </c:pt>
              </c:numCache>
            </c:numRef>
          </c:val>
        </c:ser>
        <c:dLbls>
          <c:numFmt formatCode="0%" sourceLinked="0"/>
          <c:txPr>
            <a:bodyPr/>
            <a:lstStyle/>
            <a:p>
              <a:pPr>
                <a:defRPr b="1" i="0" strike="noStrike" sz="14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funded by main category</c:v>
                </c:pt>
              </c:strCache>
            </c:strRef>
          </c:tx>
          <c:spPr>
            <a:solidFill>
              <a:srgbClr val="05CE78"/>
            </a:solidFill>
            <a:effectLst/>
          </c:spPr>
          <c:invertIfNegative val="0"/>
          <c:dLbls>
            <c:numFmt formatCode="0%" sourceLinked="0"/>
            <c:txPr>
              <a:bodyPr/>
              <a:lstStyle/>
              <a:p>
                <a:pPr>
                  <a:defRPr b="1"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05CE78"/>
              </a:solidFill>
              <a:effectLst/>
            </c:spPr>
          </c:dPt>
          <c:dPt>
            <c:idx val="3"/>
            <c:invertIfNegative val="0"/>
            <c:bubble3D val="0"/>
            <c:spPr>
              <a:solidFill>
                <a:srgbClr val="05CE78"/>
              </a:solidFill>
              <a:effectLst/>
            </c:spPr>
          </c:dPt>
          <c:dPt>
            <c:idx val="4"/>
            <c:invertIfNegative val="0"/>
            <c:bubble3D val="0"/>
            <c:spPr>
              <a:solidFill>
                <a:srgbClr val="05CE78"/>
              </a:solidFill>
              <a:effectLst/>
            </c:spPr>
          </c:dPt>
          <c:dPt>
            <c:idx val="5"/>
            <c:invertIfNegative val="0"/>
            <c:bubble3D val="0"/>
            <c:spPr>
              <a:solidFill>
                <a:srgbClr val="05CE78"/>
              </a:solidFill>
              <a:effectLst/>
            </c:spPr>
          </c:dPt>
          <c:dPt>
            <c:idx val="6"/>
            <c:invertIfNegative val="0"/>
            <c:bubble3D val="0"/>
            <c:spPr>
              <a:solidFill>
                <a:srgbClr val="05CE78"/>
              </a:solidFill>
              <a:effectLst/>
            </c:spPr>
          </c:dPt>
          <c:dPt>
            <c:idx val="7"/>
            <c:invertIfNegative val="0"/>
            <c:bubble3D val="0"/>
            <c:spPr>
              <a:solidFill>
                <a:srgbClr val="05CE78"/>
              </a:solidFill>
              <a:effectLst/>
            </c:spPr>
          </c:dPt>
          <c:dPt>
            <c:idx val="8"/>
            <c:invertIfNegative val="0"/>
            <c:bubble3D val="0"/>
            <c:spPr>
              <a:solidFill>
                <a:srgbClr val="05CE78"/>
              </a:solidFill>
              <a:effectLst/>
            </c:spPr>
          </c:dPt>
          <c:dPt>
            <c:idx val="9"/>
            <c:invertIfNegative val="0"/>
            <c:bubble3D val="0"/>
            <c:spPr>
              <a:solidFill>
                <a:srgbClr val="05CE78"/>
              </a:solidFill>
              <a:effectLst/>
            </c:spPr>
          </c:dPt>
          <c:dPt>
            <c:idx val="10"/>
            <c:invertIfNegative val="0"/>
            <c:bubble3D val="0"/>
            <c:spPr>
              <a:solidFill>
                <a:srgbClr val="05CE78"/>
              </a:solidFill>
              <a:effectLst/>
            </c:spPr>
          </c:dPt>
          <c:dPt>
            <c:idx val="11"/>
            <c:invertIfNegative val="0"/>
            <c:bubble3D val="0"/>
            <c:spPr>
              <a:solidFill>
                <a:srgbClr val="05CE78"/>
              </a:solidFill>
              <a:effectLst/>
            </c:spPr>
          </c:dPt>
          <c:dPt>
            <c:idx val="12"/>
            <c:invertIfNegative val="0"/>
            <c:bubble3D val="0"/>
            <c:spPr>
              <a:solidFill>
                <a:srgbClr val="05CE78"/>
              </a:solidFill>
              <a:effectLst/>
            </c:spPr>
          </c:dPt>
          <c:dPt>
            <c:idx val="13"/>
            <c:invertIfNegative val="0"/>
            <c:bubble3D val="0"/>
            <c:spPr>
              <a:solidFill>
                <a:srgbClr val="05CE78"/>
              </a:solidFill>
              <a:effectLst/>
            </c:spPr>
          </c:dPt>
          <c:dPt>
            <c:idx val="14"/>
            <c:invertIfNegative val="0"/>
            <c:bubble3D val="0"/>
            <c:spPr>
              <a:solidFill>
                <a:srgbClr val="05CE78"/>
              </a:solidFill>
              <a:effectLst/>
            </c:spPr>
          </c:dPt>
          <c:cat>
            <c:multiLvlStrRef>
              <c:f>Sheet1!$A$2:$A$16</c:f>
              <c:multiLvlStrCache>
                <c:ptCount val="15"/>
                <c:lvl>
                  <c:pt idx="0">
                    <c:v>Dance</c:v>
                  </c:pt>
                  <c:pt idx="1">
                    <c:v>Theater</c:v>
                  </c:pt>
                  <c:pt idx="2">
                    <c:v>Comics</c:v>
                  </c:pt>
                  <c:pt idx="3">
                    <c:v>Music</c:v>
                  </c:pt>
                  <c:pt idx="4">
                    <c:v>Art</c:v>
                  </c:pt>
                  <c:pt idx="5">
                    <c:v>Film &amp; Video</c:v>
                  </c:pt>
                  <c:pt idx="6">
                    <c:v>Games</c:v>
                  </c:pt>
                  <c:pt idx="7">
                    <c:v>Design</c:v>
                  </c:pt>
                  <c:pt idx="8">
                    <c:v>Publishing</c:v>
                  </c:pt>
                  <c:pt idx="9">
                    <c:v>Photography</c:v>
                  </c:pt>
                  <c:pt idx="10">
                    <c:v>Food</c:v>
                  </c:pt>
                  <c:pt idx="11">
                    <c:v>Fashion</c:v>
                  </c:pt>
                  <c:pt idx="12">
                    <c:v>Crafts</c:v>
                  </c:pt>
                  <c:pt idx="13">
                    <c:v>Journalism</c:v>
                  </c:pt>
                  <c:pt idx="14">
                    <c:v>Technology</c:v>
                  </c:pt>
                </c:lvl>
              </c:multiLvlStrCache>
            </c:multiLvlStrRef>
          </c:cat>
          <c:val>
            <c:numRef>
              <c:f>Sheet1!$B$2:$B$16</c:f>
              <c:numCache>
                <c:formatCode>General</c:formatCode>
                <c:ptCount val="15"/>
                <c:pt idx="0">
                  <c:v>0.624</c:v>
                </c:pt>
                <c:pt idx="1">
                  <c:v>0.601</c:v>
                </c:pt>
                <c:pt idx="2">
                  <c:v>0.544</c:v>
                </c:pt>
                <c:pt idx="3">
                  <c:v>0.49</c:v>
                </c:pt>
                <c:pt idx="4">
                  <c:v>0.412</c:v>
                </c:pt>
                <c:pt idx="5">
                  <c:v>0.379</c:v>
                </c:pt>
                <c:pt idx="6">
                  <c:v>0.358</c:v>
                </c:pt>
                <c:pt idx="7">
                  <c:v>0.354</c:v>
                </c:pt>
                <c:pt idx="8">
                  <c:v>0.314</c:v>
                </c:pt>
                <c:pt idx="9">
                  <c:v>0.308</c:v>
                </c:pt>
                <c:pt idx="10">
                  <c:v>0.249</c:v>
                </c:pt>
                <c:pt idx="11">
                  <c:v>0.248</c:v>
                </c:pt>
                <c:pt idx="12">
                  <c:v>0.242</c:v>
                </c:pt>
                <c:pt idx="13">
                  <c:v>0.214</c:v>
                </c:pt>
                <c:pt idx="14">
                  <c:v>0.2</c:v>
                </c:pt>
              </c:numCache>
            </c:numRef>
          </c:val>
        </c:ser>
        <c:dLbls>
          <c:numFmt formatCode="0%" sourceLinked="0"/>
          <c:txPr>
            <a:bodyPr/>
            <a:lstStyle/>
            <a:p>
              <a:pPr>
                <a:defRPr b="1"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funded around 30 days</c:v>
                </c:pt>
              </c:strCache>
            </c:strRef>
          </c:tx>
          <c:spPr>
            <a:solidFill>
              <a:srgbClr val="05CE78"/>
            </a:solidFill>
            <a:effectLst/>
          </c:spPr>
          <c:invertIfNegative val="0"/>
          <c:dLbls>
            <c:numFmt formatCode="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2E3431"/>
              </a:solidFill>
              <a:effectLst/>
            </c:spPr>
          </c:dPt>
          <c:dPt>
            <c:idx val="2"/>
            <c:invertIfNegative val="0"/>
            <c:bubble3D val="0"/>
            <c:spPr>
              <a:solidFill>
                <a:srgbClr val="05CE78"/>
              </a:solidFill>
              <a:effectLst/>
            </c:spPr>
          </c:dPt>
          <c:cat>
            <c:multiLvlStrRef>
              <c:f>Sheet1!$A$2:$A$4</c:f>
              <c:multiLvlStrCache>
                <c:ptCount val="3"/>
                <c:lvl>
                  <c:pt idx="0">
                    <c:v>29 days</c:v>
                  </c:pt>
                  <c:pt idx="1">
                    <c:v>30 days</c:v>
                  </c:pt>
                  <c:pt idx="2">
                    <c:v>31 days</c:v>
                  </c:pt>
                </c:lvl>
              </c:multiLvlStrCache>
            </c:multiLvlStrRef>
          </c:cat>
          <c:val>
            <c:numRef>
              <c:f>Sheet1!$B$2:$B$4</c:f>
              <c:numCache>
                <c:formatCode>General</c:formatCode>
                <c:ptCount val="3"/>
                <c:pt idx="0">
                  <c:v>0.459</c:v>
                </c:pt>
                <c:pt idx="1">
                  <c:v>0.319</c:v>
                </c:pt>
                <c:pt idx="2">
                  <c:v>0.495</c:v>
                </c:pt>
              </c:numCache>
            </c:numRef>
          </c:val>
        </c:ser>
        <c:dLbls>
          <c:numFmt formatCode="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5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funded around 60 days</c:v>
                </c:pt>
              </c:strCache>
            </c:strRef>
          </c:tx>
          <c:spPr>
            <a:solidFill>
              <a:srgbClr val="05CE78"/>
            </a:solidFill>
            <a:effectLst/>
          </c:spPr>
          <c:invertIfNegative val="0"/>
          <c:dLbls>
            <c:numFmt formatCode="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2E3431"/>
              </a:solidFill>
              <a:effectLst/>
            </c:spPr>
          </c:dPt>
          <c:dPt>
            <c:idx val="2"/>
            <c:invertIfNegative val="0"/>
            <c:bubble3D val="0"/>
            <c:spPr>
              <a:solidFill>
                <a:srgbClr val="05CE78"/>
              </a:solidFill>
              <a:effectLst/>
            </c:spPr>
          </c:dPt>
          <c:cat>
            <c:multiLvlStrRef>
              <c:f>Sheet1!$A$2:$A$4</c:f>
              <c:multiLvlStrCache>
                <c:ptCount val="3"/>
                <c:lvl>
                  <c:pt idx="0">
                    <c:v>59 days</c:v>
                  </c:pt>
                  <c:pt idx="1">
                    <c:v>60 days</c:v>
                  </c:pt>
                  <c:pt idx="2">
                    <c:v>61 days</c:v>
                  </c:pt>
                </c:lvl>
              </c:multiLvlStrCache>
            </c:multiLvlStrRef>
          </c:cat>
          <c:val>
            <c:numRef>
              <c:f>Sheet1!$B$2:$B$4</c:f>
              <c:numCache>
                <c:formatCode>General</c:formatCode>
                <c:ptCount val="3"/>
                <c:pt idx="0">
                  <c:v>0.242</c:v>
                </c:pt>
                <c:pt idx="1">
                  <c:v>0.19</c:v>
                </c:pt>
                <c:pt idx="2">
                  <c:v>0.375</c:v>
                </c:pt>
              </c:numCache>
            </c:numRef>
          </c:val>
        </c:ser>
        <c:dLbls>
          <c:numFmt formatCode="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5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Model comparison</c:v>
                </c:pt>
              </c:strCache>
            </c:strRef>
          </c:tx>
          <c:spPr>
            <a:solidFill>
              <a:srgbClr val="05CE78"/>
            </a:solidFill>
            <a:effectLst/>
          </c:spPr>
          <c:invertIfNegative val="0"/>
          <c:dLbls>
            <c:numFmt formatCode="0.0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B9C2BE"/>
              </a:solidFill>
              <a:effectLst/>
            </c:spPr>
          </c:dPt>
          <c:dPt>
            <c:idx val="2"/>
            <c:invertIfNegative val="0"/>
            <c:bubble3D val="0"/>
            <c:spPr>
              <a:solidFill>
                <a:srgbClr val="B9C2BE"/>
              </a:solidFill>
              <a:effectLst/>
            </c:spPr>
          </c:dPt>
          <c:dPt>
            <c:idx val="3"/>
            <c:invertIfNegative val="0"/>
            <c:bubble3D val="0"/>
            <c:spPr>
              <a:solidFill>
                <a:srgbClr val="DDE2DF"/>
              </a:solidFill>
              <a:effectLst/>
            </c:spPr>
          </c:dPt>
          <c:cat>
            <c:multiLvlStrRef>
              <c:f>Sheet1!$A$2:$A$5</c:f>
              <c:multiLvlStrCache>
                <c:ptCount val="4"/>
                <c:lvl>
                  <c:pt idx="0">
                    <c:v>Gradient boosting</c:v>
                  </c:pt>
                  <c:pt idx="1">
                    <c:v>Logistic regression</c:v>
                  </c:pt>
                  <c:pt idx="2">
                    <c:v>Random forest</c:v>
                  </c:pt>
                  <c:pt idx="3">
                    <c:v>Goal rule</c:v>
                  </c:pt>
                </c:lvl>
              </c:multiLvlStrCache>
            </c:multiLvlStrRef>
          </c:cat>
          <c:val>
            <c:numRef>
              <c:f>Sheet1!$B$2:$B$5</c:f>
              <c:numCache>
                <c:formatCode>General</c:formatCode>
                <c:ptCount val="4"/>
                <c:pt idx="0">
                  <c:v>0.7517</c:v>
                </c:pt>
                <c:pt idx="1">
                  <c:v>0.7279</c:v>
                </c:pt>
                <c:pt idx="2">
                  <c:v>0.7183</c:v>
                </c:pt>
                <c:pt idx="3">
                  <c:v>0.6365</c:v>
                </c:pt>
              </c:numCache>
            </c:numRef>
          </c:val>
        </c:ser>
        <c:dLbls>
          <c:numFmt formatCode="0.00" sourceLinked="0"/>
          <c:txPr>
            <a:bodyPr/>
            <a:lstStyle/>
            <a:p>
              <a:pPr>
                <a:defRPr b="1" i="0" strike="noStrike" sz="20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8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 predicted</c:v>
                </c:pt>
              </c:strCache>
            </c:strRef>
          </c:tx>
          <c:spPr>
            <a:solidFill>
              <a:schemeClr val="accent1"/>
            </a:solidFill>
            <a:ln w="9525" cap="flat">
              <a:solidFill>
                <a:srgbClr val="F9F9F9"/>
              </a:solidFill>
              <a:prstDash val="solid"/>
              <a:round/>
            </a:ln>
            <a:effectLst/>
          </c:spPr>
          <c:dPt>
            <c:idx val="0"/>
            <c:bubble3D val="0"/>
            <c:spPr>
              <a:solidFill>
                <a:srgbClr val="B9C2BE"/>
              </a:solidFill>
              <a:ln w="9525" cap="flat">
                <a:solidFill>
                  <a:srgbClr val="FFFFFF"/>
                </a:solidFill>
                <a:prstDash val="solid"/>
                <a:round/>
              </a:ln>
              <a:effectLst/>
            </c:spPr>
          </c:dPt>
          <c:dPt>
            <c:idx val="1"/>
            <c:bubble3D val="0"/>
            <c:spPr>
              <a:solidFill>
                <a:srgbClr val="F5F7F6"/>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share</c:v>
                </c:pt>
                <c:pt idx="1">
                  <c:v>rest</c:v>
                </c:pt>
              </c:strCache>
            </c:strRef>
          </c:cat>
          <c:val>
            <c:numRef>
              <c:f>Sheet1!$B$2:$B$3</c:f>
              <c:numCache>
                <c:ptCount val="2"/>
                <c:pt idx="0">
                  <c:v>0.35</c:v>
                </c:pt>
                <c:pt idx="1">
                  <c:v>0.65</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Really got funded</c:v>
                </c:pt>
              </c:strCache>
            </c:strRef>
          </c:tx>
          <c:spPr>
            <a:solidFill>
              <a:schemeClr val="accent1"/>
            </a:solidFill>
            <a:ln w="9525" cap="flat">
              <a:solidFill>
                <a:srgbClr val="F9F9F9"/>
              </a:solidFill>
              <a:prstDash val="solid"/>
              <a:round/>
            </a:ln>
            <a:effectLst/>
          </c:spPr>
          <c:dPt>
            <c:idx val="0"/>
            <c:bubble3D val="0"/>
            <c:spPr>
              <a:solidFill>
                <a:srgbClr val="05CE78"/>
              </a:solidFill>
              <a:ln w="9525" cap="flat">
                <a:solidFill>
                  <a:srgbClr val="FFFFFF"/>
                </a:solidFill>
                <a:prstDash val="solid"/>
                <a:round/>
              </a:ln>
              <a:effectLst/>
            </c:spPr>
          </c:dPt>
          <c:dPt>
            <c:idx val="1"/>
            <c:bubble3D val="0"/>
            <c:spPr>
              <a:solidFill>
                <a:srgbClr val="F5F7F6"/>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share</c:v>
                </c:pt>
                <c:pt idx="1">
                  <c:v>rest</c:v>
                </c:pt>
              </c:strCache>
            </c:strRef>
          </c:cat>
          <c:val>
            <c:numRef>
              <c:f>Sheet1!$B$2:$B$3</c:f>
              <c:numCache>
                <c:ptCount val="2"/>
                <c:pt idx="0">
                  <c:v>0.35</c:v>
                </c:pt>
                <c:pt idx="1">
                  <c:v>0.65</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What the model looks at</c:v>
                </c:pt>
              </c:strCache>
            </c:strRef>
          </c:tx>
          <c:spPr>
            <a:solidFill>
              <a:srgbClr val="05CE78"/>
            </a:solidFill>
            <a:effectLst/>
          </c:spPr>
          <c:invertIfNegative val="0"/>
          <c:dLbls>
            <c:numFmt formatCode="0" sourceLinked="0"/>
            <c:txPr>
              <a:bodyPr/>
              <a:lstStyle/>
              <a:p>
                <a:pPr>
                  <a:defRPr b="1" i="0" strike="noStrike" sz="16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C9CFCC"/>
              </a:solidFill>
              <a:effectLst/>
            </c:spPr>
          </c:dPt>
          <c:dPt>
            <c:idx val="3"/>
            <c:invertIfNegative val="0"/>
            <c:bubble3D val="0"/>
            <c:spPr>
              <a:solidFill>
                <a:srgbClr val="C9CFCC"/>
              </a:solidFill>
              <a:effectLst/>
            </c:spPr>
          </c:dPt>
          <c:dPt>
            <c:idx val="4"/>
            <c:invertIfNegative val="0"/>
            <c:bubble3D val="0"/>
            <c:spPr>
              <a:solidFill>
                <a:srgbClr val="C9CFCC"/>
              </a:solidFill>
              <a:effectLst/>
            </c:spPr>
          </c:dPt>
          <c:dPt>
            <c:idx val="5"/>
            <c:invertIfNegative val="0"/>
            <c:bubble3D val="0"/>
            <c:spPr>
              <a:solidFill>
                <a:srgbClr val="C9CFCC"/>
              </a:solidFill>
              <a:effectLst/>
            </c:spPr>
          </c:dPt>
          <c:dPt>
            <c:idx val="6"/>
            <c:invertIfNegative val="0"/>
            <c:bubble3D val="0"/>
            <c:spPr>
              <a:solidFill>
                <a:srgbClr val="C9CFCC"/>
              </a:solidFill>
              <a:effectLst/>
            </c:spPr>
          </c:dPt>
          <c:dPt>
            <c:idx val="7"/>
            <c:invertIfNegative val="0"/>
            <c:bubble3D val="0"/>
            <c:spPr>
              <a:solidFill>
                <a:srgbClr val="C9CFCC"/>
              </a:solidFill>
              <a:effectLst/>
            </c:spPr>
          </c:dPt>
          <c:cat>
            <c:multiLvlStrRef>
              <c:f>Sheet1!$A$2:$A$9</c:f>
              <c:multiLvlStrCache>
                <c:ptCount val="8"/>
                <c:lvl>
                  <c:pt idx="0">
                    <c:v>Category</c:v>
                  </c:pt>
                  <c:pt idx="1">
                    <c:v>Funding goal</c:v>
                  </c:pt>
                  <c:pt idx="2">
                    <c:v>Campaign length</c:v>
                  </c:pt>
                  <c:pt idx="3">
                    <c:v>Words in title</c:v>
                  </c:pt>
                  <c:pt idx="4">
                    <c:v>Country</c:v>
                  </c:pt>
                  <c:pt idx="5">
                    <c:v>Launch weekday</c:v>
                  </c:pt>
                  <c:pt idx="6">
                    <c:v>Title length</c:v>
                  </c:pt>
                  <c:pt idx="7">
                    <c:v>Launch month</c:v>
                  </c:pt>
                </c:lvl>
              </c:multiLvlStrCache>
            </c:multiLvlStrRef>
          </c:cat>
          <c:val>
            <c:numRef>
              <c:f>Sheet1!$B$2:$B$9</c:f>
              <c:numCache>
                <c:formatCode>General</c:formatCode>
                <c:ptCount val="8"/>
                <c:pt idx="0">
                  <c:v>100</c:v>
                </c:pt>
                <c:pt idx="1">
                  <c:v>84</c:v>
                </c:pt>
                <c:pt idx="2">
                  <c:v>32</c:v>
                </c:pt>
                <c:pt idx="3">
                  <c:v>7</c:v>
                </c:pt>
                <c:pt idx="4">
                  <c:v>7</c:v>
                </c:pt>
                <c:pt idx="5">
                  <c:v>2</c:v>
                </c:pt>
                <c:pt idx="6">
                  <c:v>2</c:v>
                </c:pt>
                <c:pt idx="7">
                  <c:v>1</c:v>
                </c:pt>
              </c:numCache>
            </c:numRef>
          </c:val>
        </c:ser>
        <c:dLbls>
          <c:numFmt formatCode="0" sourceLinked="0"/>
          <c:txPr>
            <a:bodyPr/>
            <a:lstStyle/>
            <a:p>
              <a:pPr>
                <a:defRPr b="1" i="0" strike="noStrike" sz="16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 creator asks one question before launch: will my project get funded? We looked at 372,293 past Kickstarter campaigns to answer it with data, and built a simple check that gives a creator an honest chance before launch day.
If asked:
- Data: Kickstarter Projects dataset (Kaggle), finished campaigns from 2009 to early 2018.
- Independent analysis of public data, not affiliated with Kickstarter.
- The ring on the cover: 36% of all campaigns got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team of three, all AIPM. In this project each of us had a focus. Kashif Kazmi, our project manager, planned the milestones, ran our Kanban board and kept us on track. Furkan Yurttepe, our data scientist, cleaned and explored the data and built the model. Christian Balan, our design thinker, framed the creator's problem and turned the findings into this story.
If asked:
- AIPM = AI Project Management (neuefische).
- The roles are each person's focus in this project; all three of us are AIPM.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in three steps. One: we learn from the past, 372,293 finished campaigns. Two: the creator enters the plan, only what is known before launch: goal, category, country, length, launch day and the title. Three: they get back an honest chance of funding. For this board game: 51 percent, above average.
If asked:
- Canceled campaigns count as not funded: the creator got no money.
- Without canceled campaigns (only failed and successful): 331,675 campaigns, 40% funded. Same patterns, every rate about 4 points higher (Dance 66%, Technology 24%).
- The title “Heroes of the Frozen Northern Isles” is an example: the model only uses how long a title is (here 6 words), not what it says.
- The example launches on a Tuesday in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Kickstarter is all or nothing. Miss your goal by one dollar and you get nothing. And only about a third of all projects get funded: of every 100, 36 got funded, 64 got nothing back for weeks of work.
If asked:
- 133,956 funded, 238,337 not funded.
- Raw data: 378,661 rows. Dropped: live and undefined campaigns (no outcome yet) and 7 with a broken launch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finding: the goal. Campaigns asking for up to 1,000 dollars were funded 49 percent of the time, about one in two. Over 100,000 dollars: only 6 percent. Every time the goal doubles, the odds drop a step. Ask for what you truly need, and use stretch goals for the extras.
If asked:
- All bands: up to $1k 49%, $1k–$2.5k 46%, $2.5k–$5k 40%, $5k–$10k 35%, $10k–$25k 30%, $25k–$50k 21%, $50k–$100k 14%, over $100k 6%.
- Median goal across all campaigns: $5,500.
- A pattern in past campaigns, not a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what you make matters. Dance campaigns were funded 62 percent of the time, Technology only 20. Why does tech struggle? Goals too high: a typical successful tech project asked for 10,000 dollars, a failed one 20,000. Arts projects often have a loyal community behind them.
If asked:
- Average across all categories: 36%.
- Top: Dance 62%, Theater 60%, Comics 54%, Music 49%. Bottom: Crafts 24%, Journalism 21%, Technology 20%.
- The gap stays at the same goal size: with a $1k–$5k goal, Dance 69% vs Technology 26%.
- Exact tech medians: $10,000 funded vs $20,200 not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length. Most creators keep the 30-day default, 166,483 campaigns, almost half of all. Only 32 percent of them got funded, against 46 at 29 days and 50 at 31 days. The same at 60 days, the maximum: 19 percent, against 24 at 59 and 38 at 61. One day can't change who backs you. It's a sign of planning. Pick your end date on purpose.
If asked:
- 30-day campaigns: 45% of all campaigns.
- Every round number we checked (15, 20, 45, 60 days) did worse than the day before and the day after.
- 61-day and longer campaigns are mostly older ones, from before Kickstarter's 60-day limit.
- A pattern,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step: avoiding the trap. The data also holds the money pledged and the number of backers. But you only know those when the campaign is over. A model that uses them is right 99.7 percent of the time, because “pledged at least the goal” is simply what funded means. That's like calling a match after the final whistle. So we only use what is known on launch day.
If asked:
- 99.7%: on our 372,293 campaigns the rule “pledged ≥ goal” matches the outcome. Without canceled campaigns it is 99.997%.
- The few mismatches are mostly canceled campaigns that had reached their goal (698).
- Removed columns: money pledged, number of backers, and the status tags hidden in some titles (e.g. “(Canceled)”).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built it, in five steps. One: we cleaned the data. Two: we removed the future data: the money pledged and the number of backers are only known when the campaign ends, not on launch day. Three: we trained the model on 80 percent of the campaigns. Four: we kept the other 20 percent aside for the final test. Five: we compared models against a simple rule of thumb and picked the best model.
If asked:
- “Future data” is our plain word for target leakage: columns that already contain the answer (money pledged, number of backers). See slide 8.
- Step 3 and 4: trained on 297,834 campaigns; 74,459 locked away for the final test.
- Step 5: each model was tested fairly by rotating the data it learns from (5-fold cross-validation: train on four parts, check on the fifth, five times).
- The simple rule of thumb: “goal under $5,500 =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model won? We compared three against the simple rule of thumb, smaller goal means more likely. The score is easy: show it two campaigns, one funded, one not; how often does it pick the funded one? A coin flip gets 0.5, the rule 0.64. Gradient boosting gets 0.75, the best.
If asked:
- Scores (picks the funded one of a pair, ROC-AUC): gradient boosting 0.75, logistic regression 0.73, random forest 0.72, goal rule 0.64. F1 (hits vs false alarms): 0.62 vs 0.52 for the rule.
- The simple rule as a yes/no: “goal under $5,500 = success”.
- Gradient boosting was then tuned (learning rate 0.05, 400 trees, 31 leaves) and tested once on the 20%: ROC-AUC 0.754.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predict, and can you trust it? A creator gives us the campaign plan. Our model, which learned from 372,293 past campaigns, turns that plan into a chance of funding. Then we checked: on 74,459 campaigns it had never seen, when we predicted 35 percent, 35 percent really got funded. And it's like that at every level. So the number is honest.
If asked:
- How we checked: we locked away 74,459 campaigns, let the Launch Check give each one a chance, then compared with what really happened.
- Every level (said → really funded): 5→5%, 15→15%, 25→26%, 35→35%, 45→45%, 55→55%, 65→65%, 74→73%, 83→84%, 91→94%.
- In simple bands: low chance (under 25%) → 14 of 100 funded, medium (25–50%) → 37, high (50%+) → 62.
- Metrics: slide 9 = picks the funded one of a pair (ROC-AUC 0.75 vs 0.64) and hits vs false alarms (F1 0.62 vs 0.52); slide 10 = do the predicted chances match reality (calibration).
- Better than a rule of thumb: of 100 campaigns it calls promising, 53 got funded; “small goal = success” gets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model look at? Category and funding goal drive the prediction. Campaign length follows. The title, the country and the launch date matter only a little.
If asked:
- How it is measured: scramble one input at a time and see how much worse the model gets. The most important one is set to 100.
- Scores: category 100, funding goal 84, campaign length 32, words in title 7, country 7, launch weekday 2, title length 2, launch month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looks for a creator. A board game from the US, 10,000 dollar goal, 30 days. The Launch Check says 51 percent, above the 36 percent average. A fair chance, not a sure thing.
If asked:
- Launch on a Tuesday in March, 6-word title.
- 1,375 similar past campaigns, 43% of them funded.
- Live demo: uv run kickstarter-check.
- Why no “what if” buttons: small changes like one day more swing the number (29 days would show 72%) without changing the real odds, so we show starting odds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and constraints. Every tool has limits. The check only knows the plan, the tip of the iceberg. It can't see your video, your rewards, your fans or your marketing, and those often make the difference. And the data ends in early 2018, so today's market may look different. A starting point, not a verdict.
If asked:
- Its biggest misses: tiny board-game campaigns that failed and huge tech or food campaigns that succeeded. The reasons (product, audience, marketing) are not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insights and recommendations: three steps before you launch. One: set a realistic goal: up to 1,000 dollars, 49 percent get funded, over 100,000 only 6. Two: pick your end date on purpose: not the 30-day default, 32 percent, and not 60 days, 19. Three: know your category: Dance 62, Technology 20; in tough categories, build an audience first.
If asked:
- Patterns from past campaigns, not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We're happy to take your questions.
If asked:
- “Why not more accurate?” The plan alone can't see quality, fans or marketing.
- “Can creators game it?” We show starting odds, not tweak suggestions.
- Code and notebook: github.com/crsbln/ds-ml-project-template. Live deck: crsbln.github.io/ds-ml-slides.
- “Is the data current?” It ends in early 2018. Trained on older campaigns and tested on newer ones, the model still held up (score 0.76).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229600" cy="365760"/>
          </a:xfrm>
          <a:prstGeom prst="rect">
            <a:avLst/>
          </a:prstGeom>
          <a:noFill/>
          <a:ln/>
        </p:spPr>
        <p:txBody>
          <a:bodyPr wrap="square" rtlCol="0"/>
          <a:lstStyle>
            <a:lvl1pPr indent="0" marL="0">
              <a:buNone/>
              <a:defRPr lang="en-US" sz="1400" b="1" spc="2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828800"/>
            <a:ext cx="8412480" cy="2011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3931920"/>
            <a:ext cx="786384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ph idx="103" type="body" hasCustomPrompt="1"/>
          </p:nvPr>
        </p:nvSpPr>
        <p:spPr>
          <a:xfrm>
            <a:off x="548640" y="5943600"/>
            <a:ext cx="8229600" cy="365760"/>
          </a:xfrm>
          <a:prstGeom prst="rect">
            <a:avLst/>
          </a:prstGeom>
          <a:noFill/>
          <a:ln/>
        </p:spPr>
        <p:txBody>
          <a:bodyPr wrap="square" rtlCol="0"/>
          <a:lstStyle>
            <a:lvl1pPr indent="0" marL="0">
              <a:buNone/>
              <a:defRPr lang="en-US" sz="1200" dirty="0">
                <a:solidFill>
                  <a:schemeClr val="bg1"/>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9144000" cy="457200"/>
          </a:xfrm>
          <a:prstGeom prst="rect">
            <a:avLst/>
          </a:prstGeom>
          <a:noFill/>
          <a:ln/>
        </p:spPr>
        <p:txBody>
          <a:bodyPr wrap="square" rtlCol="0"/>
          <a:lstStyle>
            <a:lvl1pPr indent="0" marL="0">
              <a:buNone/>
              <a:defRPr lang="en-US" sz="1600" b="1" spc="200" kern="0"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548640" y="2743200"/>
            <a:ext cx="1005840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23360"/>
            <a:ext cx="914400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chart" Target="/ppt/charts/chart7.xml"/><Relationship Id="rId5" Type="http://schemas.openxmlformats.org/officeDocument/2006/relationships/chart" Target="/ppt/charts/chart8.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229600" cy="365760"/>
          </a:xfrm>
          <a:prstGeom prst="rect">
            <a:avLst/>
          </a:prstGeom>
          <a:noFill/>
          <a:ln/>
        </p:spPr>
        <p:txBody>
          <a:bodyPr wrap="square" lIns="0" tIns="0" rIns="0" bIns="0" rtlCol="0"/>
          <a:lstStyle/>
          <a:p>
            <a:pPr indent="0" marL="0">
              <a:buNone/>
            </a:pPr>
            <a:r>
              <a:rPr lang="en-US" sz="1400" b="1" spc="200" kern="0" dirty="0">
                <a:solidFill>
                  <a:schemeClr val="accent5"/>
                </a:solidFill>
              </a:rPr>
              <a:t>CROWDFUNDING · LAUNCH CHECK</a:t>
            </a:r>
            <a:endParaRPr lang="en-US" sz="1400" dirty="0"/>
          </a:p>
        </p:txBody>
      </p:sp>
      <p:sp>
        <p:nvSpPr>
          <p:cNvPr id="3" name="Text 0"/>
          <p:cNvSpPr/>
          <p:nvPr>
            <p:ph idx="101" type="title" hasCustomPrompt="1"/>
          </p:nvPr>
        </p:nvSpPr>
        <p:spPr>
          <a:xfrm>
            <a:off x="548640" y="1828800"/>
            <a:ext cx="8412480" cy="2011680"/>
          </a:xfrm>
          <a:prstGeom prst="rect">
            <a:avLst/>
          </a:prstGeom>
          <a:noFill/>
          <a:ln/>
        </p:spPr>
        <p:txBody>
          <a:bodyPr wrap="square" lIns="0" tIns="0" rIns="0" bIns="0" rtlCol="0" anchor="t"/>
          <a:lstStyle/>
          <a:p>
            <a:pPr algn="l" indent="0" marL="0">
              <a:buNone/>
            </a:pPr>
            <a:r>
              <a:rPr lang="en-US" sz="4800" b="1" dirty="0">
                <a:solidFill>
                  <a:schemeClr val="bg1"/>
                </a:solidFill>
              </a:rPr>
              <a:t>Will your Kickstarter project get funded?</a:t>
            </a:r>
            <a:endParaRPr lang="en-US" sz="4800" dirty="0"/>
          </a:p>
        </p:txBody>
      </p:sp>
      <p:sp>
        <p:nvSpPr>
          <p:cNvPr id="4" name="Text 0"/>
          <p:cNvSpPr/>
          <p:nvPr>
            <p:ph idx="103" type="body" hasCustomPrompt="1"/>
          </p:nvPr>
        </p:nvSpPr>
        <p:spPr>
          <a:xfrm>
            <a:off x="548640" y="5943600"/>
            <a:ext cx="8229600" cy="365760"/>
          </a:xfrm>
          <a:prstGeom prst="rect">
            <a:avLst/>
          </a:prstGeom>
          <a:noFill/>
          <a:ln/>
        </p:spPr>
        <p:txBody>
          <a:bodyPr wrap="square" lIns="0" tIns="0" rIns="0" bIns="0" rtlCol="0"/>
          <a:lstStyle/>
          <a:p>
            <a:pPr indent="0" marL="0">
              <a:buNone/>
            </a:pPr>
            <a:r>
              <a:rPr lang="en-US" sz="1200" dirty="0">
                <a:solidFill>
                  <a:schemeClr val="bg1"/>
                </a:solidFill>
              </a:rPr>
              <a:t>Kashif Kazmi · Furkan Yurttepe · Christian Balan · October 2026</a:t>
            </a:r>
            <a:endParaRPr lang="en-US" sz="1200" dirty="0"/>
          </a:p>
        </p:txBody>
      </p:sp>
      <p:sp>
        <p:nvSpPr>
          <p:cNvPr id="6" name="accent rule"/>
          <p:cNvSpPr/>
          <p:nvPr/>
        </p:nvSpPr>
        <p:spPr>
          <a:xfrm>
            <a:off x="548640" y="4892040"/>
            <a:ext cx="822960" cy="82296"/>
          </a:xfrm>
          <a:prstGeom prst="roundRect">
            <a:avLst>
              <a:gd name="adj" fmla="val 50000"/>
            </a:avLst>
          </a:prstGeom>
          <a:solidFill>
            <a:schemeClr val="accent1"/>
          </a:solidFill>
          <a:ln/>
        </p:spPr>
      </p:sp>
      <p:sp>
        <p:nvSpPr>
          <p:cNvPr id="7" name="Text 4"/>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chemeClr val="accent5"/>
                </a:solidFill>
              </a:rPr>
              <a:t>1</a:t>
            </a:r>
            <a:endParaRPr lang="en-US" sz="1000" dirty="0"/>
          </a:p>
        </p:txBody>
      </p:sp>
      <p:sp>
        <p:nvSpPr>
          <p:cNvPr id="8" name="Text 0"/>
          <p:cNvSpPr/>
          <p:nvPr>
            <p:ph idx="102" type="body" hasCustomPrompt="1"/>
          </p:nvPr>
        </p:nvSpPr>
        <p:spPr>
          <a:xfrm>
            <a:off x="548640" y="3931920"/>
            <a:ext cx="7863840" cy="91440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WHO WE ARE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Our team</a:t>
            </a:r>
            <a:endParaRPr lang="en-US" sz="3400" dirty="0"/>
          </a:p>
        </p:txBody>
      </p:sp>
      <p:sp>
        <p:nvSpPr>
          <p:cNvPr id="5" name="Kashif Kazmi card"/>
          <p:cNvSpPr/>
          <p:nvPr/>
        </p:nvSpPr>
        <p:spPr>
          <a:xfrm>
            <a:off x="548640" y="1920240"/>
            <a:ext cx="3429000" cy="2743200"/>
          </a:xfrm>
          <a:prstGeom prst="roundRect">
            <a:avLst>
              <a:gd name="adj" fmla="val 4000"/>
            </a:avLst>
          </a:prstGeom>
          <a:solidFill>
            <a:schemeClr val="bg1"/>
          </a:solidFill>
          <a:ln w="12700">
            <a:solidFill>
              <a:srgbClr val="F5F7F6"/>
            </a:solidFill>
            <a:prstDash val="solid"/>
          </a:ln>
        </p:spPr>
      </p:sp>
      <p:sp>
        <p:nvSpPr>
          <p:cNvPr id="6" name="Kashif Kazmi accent"/>
          <p:cNvSpPr/>
          <p:nvPr/>
        </p:nvSpPr>
        <p:spPr>
          <a:xfrm>
            <a:off x="548640" y="1920240"/>
            <a:ext cx="3429000" cy="64008"/>
          </a:xfrm>
          <a:prstGeom prst="rect">
            <a:avLst/>
          </a:prstGeom>
          <a:solidFill>
            <a:schemeClr val="accent1"/>
          </a:solidFill>
          <a:ln/>
        </p:spPr>
      </p:sp>
      <p:sp>
        <p:nvSpPr>
          <p:cNvPr id="7" name="Kashif Kazmi avatar"/>
          <p:cNvSpPr/>
          <p:nvPr/>
        </p:nvSpPr>
        <p:spPr>
          <a:xfrm>
            <a:off x="914400" y="2286000"/>
            <a:ext cx="1005840" cy="1005840"/>
          </a:xfrm>
          <a:prstGeom prst="ellipse">
            <a:avLst/>
          </a:prstGeom>
          <a:solidFill>
            <a:srgbClr val="E4F8EE"/>
          </a:solidFill>
          <a:ln/>
        </p:spPr>
      </p:sp>
      <p:sp>
        <p:nvSpPr>
          <p:cNvPr id="8" name="Text 5"/>
          <p:cNvSpPr txBox="1"/>
          <p:nvPr/>
        </p:nvSpPr>
        <p:spPr>
          <a:xfrm>
            <a:off x="914400" y="2286000"/>
            <a:ext cx="1005840" cy="1005840"/>
          </a:xfrm>
          <a:prstGeom prst="rect">
            <a:avLst/>
          </a:prstGeom>
          <a:noFill/>
          <a:ln/>
        </p:spPr>
        <p:txBody>
          <a:bodyPr wrap="square" lIns="0" tIns="0" rIns="0" bIns="0" rtlCol="0" anchor="ctr"/>
          <a:lstStyle/>
          <a:p>
            <a:pPr algn="ctr" indent="0" marL="0">
              <a:buNone/>
            </a:pPr>
            <a:r>
              <a:rPr lang="en-US" sz="2400" b="1" dirty="0">
                <a:solidFill>
                  <a:schemeClr val="accent6"/>
                </a:solidFill>
              </a:rPr>
              <a:t>KK</a:t>
            </a:r>
            <a:endParaRPr lang="en-US" sz="2400" dirty="0"/>
          </a:p>
        </p:txBody>
      </p:sp>
      <p:sp>
        <p:nvSpPr>
          <p:cNvPr id="9" name="Text 6"/>
          <p:cNvSpPr txBox="1"/>
          <p:nvPr/>
        </p:nvSpPr>
        <p:spPr>
          <a:xfrm>
            <a:off x="914400" y="3520440"/>
            <a:ext cx="2697480" cy="457200"/>
          </a:xfrm>
          <a:prstGeom prst="rect">
            <a:avLst/>
          </a:prstGeom>
          <a:noFill/>
          <a:ln/>
        </p:spPr>
        <p:txBody>
          <a:bodyPr wrap="square" lIns="0" tIns="0" rIns="0" bIns="0" rtlCol="0" anchor="t"/>
          <a:lstStyle/>
          <a:p>
            <a:pPr indent="0" marL="0">
              <a:buNone/>
            </a:pPr>
            <a:r>
              <a:rPr lang="en-US" sz="2200" b="1" dirty="0">
                <a:solidFill>
                  <a:schemeClr val="tx1"/>
                </a:solidFill>
              </a:rPr>
              <a:t>Kashif Kazmi</a:t>
            </a:r>
            <a:endParaRPr lang="en-US" sz="2200" dirty="0"/>
          </a:p>
        </p:txBody>
      </p:sp>
      <p:sp>
        <p:nvSpPr>
          <p:cNvPr id="10" name="Text 7"/>
          <p:cNvSpPr txBox="1"/>
          <p:nvPr/>
        </p:nvSpPr>
        <p:spPr>
          <a:xfrm>
            <a:off x="914400" y="3977640"/>
            <a:ext cx="2697480" cy="320040"/>
          </a:xfrm>
          <a:prstGeom prst="rect">
            <a:avLst/>
          </a:prstGeom>
          <a:noFill/>
          <a:ln/>
        </p:spPr>
        <p:txBody>
          <a:bodyPr wrap="square" lIns="0" tIns="0" rIns="0" bIns="0" rtlCol="0" anchor="t"/>
          <a:lstStyle/>
          <a:p>
            <a:pPr indent="0" marL="0">
              <a:buNone/>
            </a:pPr>
            <a:r>
              <a:rPr lang="en-US" sz="1500" b="1" dirty="0">
                <a:solidFill>
                  <a:schemeClr val="accent6"/>
                </a:solidFill>
              </a:rPr>
              <a:t>Project Manager, AIPM</a:t>
            </a:r>
            <a:endParaRPr lang="en-US" sz="1500" dirty="0"/>
          </a:p>
        </p:txBody>
      </p:sp>
      <p:sp>
        <p:nvSpPr>
          <p:cNvPr id="11" name="Furkan Yurttepe card"/>
          <p:cNvSpPr/>
          <p:nvPr/>
        </p:nvSpPr>
        <p:spPr>
          <a:xfrm>
            <a:off x="4381348" y="1920240"/>
            <a:ext cx="3429000" cy="2743200"/>
          </a:xfrm>
          <a:prstGeom prst="roundRect">
            <a:avLst>
              <a:gd name="adj" fmla="val 4000"/>
            </a:avLst>
          </a:prstGeom>
          <a:solidFill>
            <a:schemeClr val="bg1"/>
          </a:solidFill>
          <a:ln w="12700">
            <a:solidFill>
              <a:srgbClr val="F5F7F6"/>
            </a:solidFill>
            <a:prstDash val="solid"/>
          </a:ln>
        </p:spPr>
      </p:sp>
      <p:sp>
        <p:nvSpPr>
          <p:cNvPr id="12" name="Furkan Yurttepe accent"/>
          <p:cNvSpPr/>
          <p:nvPr/>
        </p:nvSpPr>
        <p:spPr>
          <a:xfrm>
            <a:off x="4381348" y="1920240"/>
            <a:ext cx="3429000" cy="64008"/>
          </a:xfrm>
          <a:prstGeom prst="rect">
            <a:avLst/>
          </a:prstGeom>
          <a:solidFill>
            <a:schemeClr val="accent1"/>
          </a:solidFill>
          <a:ln/>
        </p:spPr>
      </p:sp>
      <p:sp>
        <p:nvSpPr>
          <p:cNvPr id="13" name="Furkan Yurttepe avatar"/>
          <p:cNvSpPr/>
          <p:nvPr/>
        </p:nvSpPr>
        <p:spPr>
          <a:xfrm>
            <a:off x="4747108" y="2286000"/>
            <a:ext cx="1005840" cy="1005840"/>
          </a:xfrm>
          <a:prstGeom prst="ellipse">
            <a:avLst/>
          </a:prstGeom>
          <a:solidFill>
            <a:srgbClr val="E4F8EE"/>
          </a:solidFill>
          <a:ln/>
        </p:spPr>
      </p:sp>
      <p:sp>
        <p:nvSpPr>
          <p:cNvPr id="14" name="Text 11"/>
          <p:cNvSpPr txBox="1"/>
          <p:nvPr/>
        </p:nvSpPr>
        <p:spPr>
          <a:xfrm>
            <a:off x="4747108" y="2286000"/>
            <a:ext cx="1005840" cy="1005840"/>
          </a:xfrm>
          <a:prstGeom prst="rect">
            <a:avLst/>
          </a:prstGeom>
          <a:noFill/>
          <a:ln/>
        </p:spPr>
        <p:txBody>
          <a:bodyPr wrap="square" lIns="0" tIns="0" rIns="0" bIns="0" rtlCol="0" anchor="ctr"/>
          <a:lstStyle/>
          <a:p>
            <a:pPr algn="ctr" indent="0" marL="0">
              <a:buNone/>
            </a:pPr>
            <a:r>
              <a:rPr lang="en-US" sz="2400" b="1" dirty="0">
                <a:solidFill>
                  <a:schemeClr val="accent6"/>
                </a:solidFill>
              </a:rPr>
              <a:t>FY</a:t>
            </a:r>
            <a:endParaRPr lang="en-US" sz="2400" dirty="0"/>
          </a:p>
        </p:txBody>
      </p:sp>
      <p:sp>
        <p:nvSpPr>
          <p:cNvPr id="15" name="Text 12"/>
          <p:cNvSpPr txBox="1"/>
          <p:nvPr/>
        </p:nvSpPr>
        <p:spPr>
          <a:xfrm>
            <a:off x="4747108" y="3520440"/>
            <a:ext cx="2697480" cy="457200"/>
          </a:xfrm>
          <a:prstGeom prst="rect">
            <a:avLst/>
          </a:prstGeom>
          <a:noFill/>
          <a:ln/>
        </p:spPr>
        <p:txBody>
          <a:bodyPr wrap="square" lIns="0" tIns="0" rIns="0" bIns="0" rtlCol="0" anchor="t"/>
          <a:lstStyle/>
          <a:p>
            <a:pPr indent="0" marL="0">
              <a:buNone/>
            </a:pPr>
            <a:r>
              <a:rPr lang="en-US" sz="2200" b="1" dirty="0">
                <a:solidFill>
                  <a:schemeClr val="tx1"/>
                </a:solidFill>
              </a:rPr>
              <a:t>Furkan Yurttepe</a:t>
            </a:r>
            <a:endParaRPr lang="en-US" sz="2200" dirty="0"/>
          </a:p>
        </p:txBody>
      </p:sp>
      <p:sp>
        <p:nvSpPr>
          <p:cNvPr id="16" name="Text 13"/>
          <p:cNvSpPr txBox="1"/>
          <p:nvPr/>
        </p:nvSpPr>
        <p:spPr>
          <a:xfrm>
            <a:off x="4747108" y="3977640"/>
            <a:ext cx="2697480" cy="320040"/>
          </a:xfrm>
          <a:prstGeom prst="rect">
            <a:avLst/>
          </a:prstGeom>
          <a:noFill/>
          <a:ln/>
        </p:spPr>
        <p:txBody>
          <a:bodyPr wrap="square" lIns="0" tIns="0" rIns="0" bIns="0" rtlCol="0" anchor="t"/>
          <a:lstStyle/>
          <a:p>
            <a:pPr indent="0" marL="0">
              <a:buNone/>
            </a:pPr>
            <a:r>
              <a:rPr lang="en-US" sz="1500" b="1" dirty="0">
                <a:solidFill>
                  <a:schemeClr val="accent6"/>
                </a:solidFill>
              </a:rPr>
              <a:t>Data Scientist, AIPM</a:t>
            </a:r>
            <a:endParaRPr lang="en-US" sz="1500" dirty="0"/>
          </a:p>
        </p:txBody>
      </p:sp>
      <p:sp>
        <p:nvSpPr>
          <p:cNvPr id="17" name="Christian Balan card"/>
          <p:cNvSpPr/>
          <p:nvPr/>
        </p:nvSpPr>
        <p:spPr>
          <a:xfrm>
            <a:off x="8214055" y="1920240"/>
            <a:ext cx="3429000" cy="2743200"/>
          </a:xfrm>
          <a:prstGeom prst="roundRect">
            <a:avLst>
              <a:gd name="adj" fmla="val 4000"/>
            </a:avLst>
          </a:prstGeom>
          <a:solidFill>
            <a:schemeClr val="bg1"/>
          </a:solidFill>
          <a:ln w="12700">
            <a:solidFill>
              <a:srgbClr val="F5F7F6"/>
            </a:solidFill>
            <a:prstDash val="solid"/>
          </a:ln>
        </p:spPr>
      </p:sp>
      <p:sp>
        <p:nvSpPr>
          <p:cNvPr id="18" name="Christian Balan accent"/>
          <p:cNvSpPr/>
          <p:nvPr/>
        </p:nvSpPr>
        <p:spPr>
          <a:xfrm>
            <a:off x="8214055" y="1920240"/>
            <a:ext cx="3429000" cy="64008"/>
          </a:xfrm>
          <a:prstGeom prst="rect">
            <a:avLst/>
          </a:prstGeom>
          <a:solidFill>
            <a:schemeClr val="accent1"/>
          </a:solidFill>
          <a:ln/>
        </p:spPr>
      </p:sp>
      <p:sp>
        <p:nvSpPr>
          <p:cNvPr id="19" name="Christian Balan avatar"/>
          <p:cNvSpPr/>
          <p:nvPr/>
        </p:nvSpPr>
        <p:spPr>
          <a:xfrm>
            <a:off x="8579815" y="2286000"/>
            <a:ext cx="1005840" cy="1005840"/>
          </a:xfrm>
          <a:prstGeom prst="ellipse">
            <a:avLst/>
          </a:prstGeom>
          <a:solidFill>
            <a:srgbClr val="E4F8EE"/>
          </a:solidFill>
          <a:ln/>
        </p:spPr>
      </p:sp>
      <p:sp>
        <p:nvSpPr>
          <p:cNvPr id="20" name="Text 17"/>
          <p:cNvSpPr txBox="1"/>
          <p:nvPr/>
        </p:nvSpPr>
        <p:spPr>
          <a:xfrm>
            <a:off x="8579815" y="2286000"/>
            <a:ext cx="1005840" cy="1005840"/>
          </a:xfrm>
          <a:prstGeom prst="rect">
            <a:avLst/>
          </a:prstGeom>
          <a:noFill/>
          <a:ln/>
        </p:spPr>
        <p:txBody>
          <a:bodyPr wrap="square" lIns="0" tIns="0" rIns="0" bIns="0" rtlCol="0" anchor="ctr"/>
          <a:lstStyle/>
          <a:p>
            <a:pPr algn="ctr" indent="0" marL="0">
              <a:buNone/>
            </a:pPr>
            <a:r>
              <a:rPr lang="en-US" sz="2400" b="1" dirty="0">
                <a:solidFill>
                  <a:schemeClr val="accent6"/>
                </a:solidFill>
              </a:rPr>
              <a:t>CB</a:t>
            </a:r>
            <a:endParaRPr lang="en-US" sz="2400" dirty="0"/>
          </a:p>
        </p:txBody>
      </p:sp>
      <p:sp>
        <p:nvSpPr>
          <p:cNvPr id="21" name="Text 18"/>
          <p:cNvSpPr txBox="1"/>
          <p:nvPr/>
        </p:nvSpPr>
        <p:spPr>
          <a:xfrm>
            <a:off x="8579815" y="3520440"/>
            <a:ext cx="2697480" cy="457200"/>
          </a:xfrm>
          <a:prstGeom prst="rect">
            <a:avLst/>
          </a:prstGeom>
          <a:noFill/>
          <a:ln/>
        </p:spPr>
        <p:txBody>
          <a:bodyPr wrap="square" lIns="0" tIns="0" rIns="0" bIns="0" rtlCol="0" anchor="t"/>
          <a:lstStyle/>
          <a:p>
            <a:pPr indent="0" marL="0">
              <a:buNone/>
            </a:pPr>
            <a:r>
              <a:rPr lang="en-US" sz="2200" b="1" dirty="0">
                <a:solidFill>
                  <a:schemeClr val="tx1"/>
                </a:solidFill>
              </a:rPr>
              <a:t>Christian Balan</a:t>
            </a:r>
            <a:endParaRPr lang="en-US" sz="2200" dirty="0"/>
          </a:p>
        </p:txBody>
      </p:sp>
      <p:sp>
        <p:nvSpPr>
          <p:cNvPr id="22" name="Text 19"/>
          <p:cNvSpPr txBox="1"/>
          <p:nvPr/>
        </p:nvSpPr>
        <p:spPr>
          <a:xfrm>
            <a:off x="8579815" y="3977640"/>
            <a:ext cx="2697480" cy="320040"/>
          </a:xfrm>
          <a:prstGeom prst="rect">
            <a:avLst/>
          </a:prstGeom>
          <a:noFill/>
          <a:ln/>
        </p:spPr>
        <p:txBody>
          <a:bodyPr wrap="square" lIns="0" tIns="0" rIns="0" bIns="0" rtlCol="0" anchor="t"/>
          <a:lstStyle/>
          <a:p>
            <a:pPr indent="0" marL="0">
              <a:buNone/>
            </a:pPr>
            <a:r>
              <a:rPr lang="en-US" sz="1500" b="1" dirty="0">
                <a:solidFill>
                  <a:schemeClr val="accent6"/>
                </a:solidFill>
              </a:rPr>
              <a:t>Design Thinker, AIPM</a:t>
            </a:r>
            <a:endParaRPr lang="en-US" sz="1500" dirty="0"/>
          </a:p>
        </p:txBody>
      </p:sp>
      <p:sp>
        <p:nvSpPr>
          <p:cNvPr id="23"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OUR APPROACH</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How likely is a campaign to get funded?</a:t>
            </a:r>
            <a:endParaRPr lang="en-US" sz="3400" dirty="0"/>
          </a:p>
        </p:txBody>
      </p:sp>
      <p:sp>
        <p:nvSpPr>
          <p:cNvPr id="5" name="step 1"/>
          <p:cNvSpPr/>
          <p:nvPr/>
        </p:nvSpPr>
        <p:spPr>
          <a:xfrm>
            <a:off x="548640" y="2148840"/>
            <a:ext cx="3429000" cy="3840480"/>
          </a:xfrm>
          <a:prstGeom prst="roundRect">
            <a:avLst>
              <a:gd name="adj" fmla="val 3200"/>
            </a:avLst>
          </a:prstGeom>
          <a:solidFill>
            <a:schemeClr val="bg2"/>
          </a:solidFill>
          <a:ln w="12700">
            <a:solidFill>
              <a:srgbClr val="F5F7F6"/>
            </a:solidFill>
            <a:prstDash val="solid"/>
          </a:ln>
        </p:spPr>
      </p:sp>
      <p:sp>
        <p:nvSpPr>
          <p:cNvPr id="6" name="step 1 number"/>
          <p:cNvSpPr/>
          <p:nvPr/>
        </p:nvSpPr>
        <p:spPr>
          <a:xfrm>
            <a:off x="868680" y="2377440"/>
            <a:ext cx="502920" cy="502920"/>
          </a:xfrm>
          <a:prstGeom prst="ellipse">
            <a:avLst/>
          </a:prstGeom>
          <a:solidFill>
            <a:schemeClr val="accent1"/>
          </a:solidFill>
          <a:ln/>
        </p:spPr>
      </p:sp>
      <p:sp>
        <p:nvSpPr>
          <p:cNvPr id="7" name="Text 4"/>
          <p:cNvSpPr txBox="1"/>
          <p:nvPr/>
        </p:nvSpPr>
        <p:spPr>
          <a:xfrm>
            <a:off x="868680" y="23774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8" name="Text 5"/>
          <p:cNvSpPr txBox="1"/>
          <p:nvPr/>
        </p:nvSpPr>
        <p:spPr>
          <a:xfrm>
            <a:off x="868680" y="3017520"/>
            <a:ext cx="2788920" cy="411480"/>
          </a:xfrm>
          <a:prstGeom prst="rect">
            <a:avLst/>
          </a:prstGeom>
          <a:noFill/>
          <a:ln/>
        </p:spPr>
        <p:txBody>
          <a:bodyPr wrap="square" lIns="0" tIns="0" rIns="0" bIns="0" rtlCol="0" anchor="t"/>
          <a:lstStyle/>
          <a:p>
            <a:pPr indent="0" marL="0">
              <a:buNone/>
            </a:pPr>
            <a:r>
              <a:rPr lang="en-US" sz="2000" b="1" dirty="0">
                <a:solidFill>
                  <a:schemeClr val="tx1"/>
                </a:solidFill>
              </a:rPr>
              <a:t>We learn from the past</a:t>
            </a:r>
            <a:endParaRPr lang="en-US" sz="2000" dirty="0"/>
          </a:p>
        </p:txBody>
      </p:sp>
      <p:sp>
        <p:nvSpPr>
          <p:cNvPr id="9" name="Text 6"/>
          <p:cNvSpPr txBox="1"/>
          <p:nvPr/>
        </p:nvSpPr>
        <p:spPr>
          <a:xfrm>
            <a:off x="3977640" y="2331720"/>
            <a:ext cx="403708"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10" name="step 2"/>
          <p:cNvSpPr/>
          <p:nvPr/>
        </p:nvSpPr>
        <p:spPr>
          <a:xfrm>
            <a:off x="4381348" y="2148840"/>
            <a:ext cx="3429000" cy="3840480"/>
          </a:xfrm>
          <a:prstGeom prst="roundRect">
            <a:avLst>
              <a:gd name="adj" fmla="val 3200"/>
            </a:avLst>
          </a:prstGeom>
          <a:solidFill>
            <a:schemeClr val="bg2"/>
          </a:solidFill>
          <a:ln w="12700">
            <a:solidFill>
              <a:srgbClr val="F5F7F6"/>
            </a:solidFill>
            <a:prstDash val="solid"/>
          </a:ln>
        </p:spPr>
      </p:sp>
      <p:sp>
        <p:nvSpPr>
          <p:cNvPr id="11" name="step 2 number"/>
          <p:cNvSpPr/>
          <p:nvPr/>
        </p:nvSpPr>
        <p:spPr>
          <a:xfrm>
            <a:off x="4701388" y="2377440"/>
            <a:ext cx="502920" cy="502920"/>
          </a:xfrm>
          <a:prstGeom prst="ellipse">
            <a:avLst/>
          </a:prstGeom>
          <a:solidFill>
            <a:schemeClr val="accent1"/>
          </a:solidFill>
          <a:ln/>
        </p:spPr>
      </p:sp>
      <p:sp>
        <p:nvSpPr>
          <p:cNvPr id="12" name="Text 9"/>
          <p:cNvSpPr txBox="1"/>
          <p:nvPr/>
        </p:nvSpPr>
        <p:spPr>
          <a:xfrm>
            <a:off x="4701388" y="23774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3" name="Text 10"/>
          <p:cNvSpPr txBox="1"/>
          <p:nvPr/>
        </p:nvSpPr>
        <p:spPr>
          <a:xfrm>
            <a:off x="4701388" y="3017520"/>
            <a:ext cx="2788920" cy="411480"/>
          </a:xfrm>
          <a:prstGeom prst="rect">
            <a:avLst/>
          </a:prstGeom>
          <a:noFill/>
          <a:ln/>
        </p:spPr>
        <p:txBody>
          <a:bodyPr wrap="square" lIns="0" tIns="0" rIns="0" bIns="0" rtlCol="0" anchor="t"/>
          <a:lstStyle/>
          <a:p>
            <a:pPr indent="0" marL="0">
              <a:buNone/>
            </a:pPr>
            <a:r>
              <a:rPr lang="en-US" sz="2000" b="1" dirty="0">
                <a:solidFill>
                  <a:schemeClr val="tx1"/>
                </a:solidFill>
              </a:rPr>
              <a:t>You enter your plan</a:t>
            </a:r>
            <a:endParaRPr lang="en-US" sz="2000" dirty="0"/>
          </a:p>
        </p:txBody>
      </p:sp>
      <p:sp>
        <p:nvSpPr>
          <p:cNvPr id="14" name="Text 11"/>
          <p:cNvSpPr txBox="1"/>
          <p:nvPr/>
        </p:nvSpPr>
        <p:spPr>
          <a:xfrm>
            <a:off x="7810348" y="2331720"/>
            <a:ext cx="403708"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15" name="step 3"/>
          <p:cNvSpPr/>
          <p:nvPr/>
        </p:nvSpPr>
        <p:spPr>
          <a:xfrm>
            <a:off x="8214055" y="2148840"/>
            <a:ext cx="3429000" cy="3840480"/>
          </a:xfrm>
          <a:prstGeom prst="roundRect">
            <a:avLst>
              <a:gd name="adj" fmla="val 3200"/>
            </a:avLst>
          </a:prstGeom>
          <a:solidFill>
            <a:schemeClr val="bg2"/>
          </a:solidFill>
          <a:ln w="12700">
            <a:solidFill>
              <a:srgbClr val="F5F7F6"/>
            </a:solidFill>
            <a:prstDash val="solid"/>
          </a:ln>
        </p:spPr>
      </p:sp>
      <p:sp>
        <p:nvSpPr>
          <p:cNvPr id="16" name="step 3 number"/>
          <p:cNvSpPr/>
          <p:nvPr/>
        </p:nvSpPr>
        <p:spPr>
          <a:xfrm>
            <a:off x="8534095" y="2377440"/>
            <a:ext cx="502920" cy="502920"/>
          </a:xfrm>
          <a:prstGeom prst="ellipse">
            <a:avLst/>
          </a:prstGeom>
          <a:solidFill>
            <a:schemeClr val="accent1"/>
          </a:solidFill>
          <a:ln/>
        </p:spPr>
      </p:sp>
      <p:sp>
        <p:nvSpPr>
          <p:cNvPr id="17" name="Text 14"/>
          <p:cNvSpPr txBox="1"/>
          <p:nvPr/>
        </p:nvSpPr>
        <p:spPr>
          <a:xfrm>
            <a:off x="8534095" y="237744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8" name="Text 15"/>
          <p:cNvSpPr txBox="1"/>
          <p:nvPr/>
        </p:nvSpPr>
        <p:spPr>
          <a:xfrm>
            <a:off x="8534095" y="3017520"/>
            <a:ext cx="2788920" cy="411480"/>
          </a:xfrm>
          <a:prstGeom prst="rect">
            <a:avLst/>
          </a:prstGeom>
          <a:noFill/>
          <a:ln/>
        </p:spPr>
        <p:txBody>
          <a:bodyPr wrap="square" lIns="0" tIns="0" rIns="0" bIns="0" rtlCol="0" anchor="t"/>
          <a:lstStyle/>
          <a:p>
            <a:pPr indent="0" marL="0">
              <a:buNone/>
            </a:pPr>
            <a:r>
              <a:rPr lang="en-US" sz="2000" b="1" dirty="0">
                <a:solidFill>
                  <a:schemeClr val="tx1"/>
                </a:solidFill>
              </a:rPr>
              <a:t>You get your chance</a:t>
            </a:r>
            <a:endParaRPr lang="en-US" sz="2000" dirty="0"/>
          </a:p>
        </p:txBody>
      </p:sp>
      <p:sp>
        <p:nvSpPr>
          <p:cNvPr id="19" name="Text 16"/>
          <p:cNvSpPr txBox="1"/>
          <p:nvPr/>
        </p:nvSpPr>
        <p:spPr>
          <a:xfrm>
            <a:off x="868680" y="3611880"/>
            <a:ext cx="2788920" cy="822960"/>
          </a:xfrm>
          <a:prstGeom prst="rect">
            <a:avLst/>
          </a:prstGeom>
          <a:noFill/>
          <a:ln/>
        </p:spPr>
        <p:txBody>
          <a:bodyPr wrap="square" lIns="0" tIns="0" rIns="0" bIns="0" rtlCol="0" anchor="t"/>
          <a:lstStyle/>
          <a:p>
            <a:pPr indent="0" marL="0">
              <a:buNone/>
            </a:pPr>
            <a:r>
              <a:rPr lang="en-US" sz="4400" b="1" dirty="0">
                <a:solidFill>
                  <a:schemeClr val="accent6"/>
                </a:solidFill>
                <a:latin typeface="Calibri" pitchFamily="34" charset="0"/>
                <a:ea typeface="Calibri" pitchFamily="34" charset="-122"/>
                <a:cs typeface="Calibri" pitchFamily="34" charset="-120"/>
              </a:rPr>
              <a:t>372,293</a:t>
            </a:r>
            <a:endParaRPr lang="en-US" sz="4400" dirty="0"/>
          </a:p>
        </p:txBody>
      </p:sp>
      <p:sp>
        <p:nvSpPr>
          <p:cNvPr id="20" name="Text 17"/>
          <p:cNvSpPr txBox="1"/>
          <p:nvPr/>
        </p:nvSpPr>
        <p:spPr>
          <a:xfrm>
            <a:off x="868680" y="4434840"/>
            <a:ext cx="2788920" cy="457200"/>
          </a:xfrm>
          <a:prstGeom prst="rect">
            <a:avLst/>
          </a:prstGeom>
          <a:noFill/>
          <a:ln/>
        </p:spPr>
        <p:txBody>
          <a:bodyPr wrap="square" lIns="0" tIns="0" rIns="0" bIns="0" rtlCol="0" anchor="t"/>
          <a:lstStyle/>
          <a:p>
            <a:pPr indent="0" marL="0">
              <a:buNone/>
            </a:pPr>
            <a:r>
              <a:rPr lang="en-US" sz="1500" dirty="0">
                <a:solidFill>
                  <a:schemeClr val="accent4"/>
                </a:solidFill>
              </a:rPr>
              <a:t>past campaigns</a:t>
            </a:r>
            <a:endParaRPr lang="en-US" sz="1500" dirty="0"/>
          </a:p>
        </p:txBody>
      </p:sp>
      <p:sp>
        <p:nvSpPr>
          <p:cNvPr id="21" name="plan Goal"/>
          <p:cNvSpPr/>
          <p:nvPr/>
        </p:nvSpPr>
        <p:spPr>
          <a:xfrm>
            <a:off x="4701388" y="3520440"/>
            <a:ext cx="1339596" cy="530352"/>
          </a:xfrm>
          <a:prstGeom prst="roundRect">
            <a:avLst>
              <a:gd name="adj" fmla="val 10345"/>
            </a:avLst>
          </a:prstGeom>
          <a:solidFill>
            <a:schemeClr val="bg1"/>
          </a:solidFill>
          <a:ln w="12700">
            <a:solidFill>
              <a:srgbClr val="E1E5E3"/>
            </a:solidFill>
            <a:prstDash val="solid"/>
          </a:ln>
        </p:spPr>
      </p:sp>
      <p:sp>
        <p:nvSpPr>
          <p:cNvPr id="22" name="Text 19"/>
          <p:cNvSpPr txBox="1"/>
          <p:nvPr/>
        </p:nvSpPr>
        <p:spPr>
          <a:xfrm>
            <a:off x="4811116" y="3566160"/>
            <a:ext cx="1156716" cy="201168"/>
          </a:xfrm>
          <a:prstGeom prst="rect">
            <a:avLst/>
          </a:prstGeom>
          <a:noFill/>
          <a:ln/>
        </p:spPr>
        <p:txBody>
          <a:bodyPr wrap="square" lIns="0" tIns="0" rIns="0" bIns="0" rtlCol="0" anchor="t"/>
          <a:lstStyle/>
          <a:p>
            <a:pPr indent="0" marL="0">
              <a:buNone/>
            </a:pPr>
            <a:r>
              <a:rPr lang="en-US" sz="800" b="1" spc="100" kern="0" dirty="0">
                <a:solidFill>
                  <a:schemeClr val="accent4"/>
                </a:solidFill>
              </a:rPr>
              <a:t>GOAL</a:t>
            </a:r>
            <a:endParaRPr lang="en-US" sz="800" dirty="0"/>
          </a:p>
        </p:txBody>
      </p:sp>
      <p:sp>
        <p:nvSpPr>
          <p:cNvPr id="23" name="Text 20"/>
          <p:cNvSpPr txBox="1"/>
          <p:nvPr/>
        </p:nvSpPr>
        <p:spPr>
          <a:xfrm>
            <a:off x="4811116" y="3758184"/>
            <a:ext cx="1156716" cy="274320"/>
          </a:xfrm>
          <a:prstGeom prst="rect">
            <a:avLst/>
          </a:prstGeom>
          <a:noFill/>
          <a:ln/>
        </p:spPr>
        <p:txBody>
          <a:bodyPr wrap="square" lIns="0" tIns="0" rIns="0" bIns="0" rtlCol="0" anchor="t"/>
          <a:lstStyle/>
          <a:p>
            <a:pPr indent="0" marL="0">
              <a:buNone/>
            </a:pPr>
            <a:r>
              <a:rPr lang="en-US" sz="1200" b="1" dirty="0">
                <a:solidFill>
                  <a:schemeClr val="tx1"/>
                </a:solidFill>
              </a:rPr>
              <a:t>$10,000</a:t>
            </a:r>
            <a:endParaRPr lang="en-US" sz="1200" dirty="0"/>
          </a:p>
        </p:txBody>
      </p:sp>
      <p:sp>
        <p:nvSpPr>
          <p:cNvPr id="24" name="plan Category"/>
          <p:cNvSpPr/>
          <p:nvPr/>
        </p:nvSpPr>
        <p:spPr>
          <a:xfrm>
            <a:off x="6150712" y="3520440"/>
            <a:ext cx="1339596" cy="530352"/>
          </a:xfrm>
          <a:prstGeom prst="roundRect">
            <a:avLst>
              <a:gd name="adj" fmla="val 10345"/>
            </a:avLst>
          </a:prstGeom>
          <a:solidFill>
            <a:schemeClr val="bg1"/>
          </a:solidFill>
          <a:ln w="12700">
            <a:solidFill>
              <a:srgbClr val="E1E5E3"/>
            </a:solidFill>
            <a:prstDash val="solid"/>
          </a:ln>
        </p:spPr>
      </p:sp>
      <p:sp>
        <p:nvSpPr>
          <p:cNvPr id="25" name="Text 22"/>
          <p:cNvSpPr txBox="1"/>
          <p:nvPr/>
        </p:nvSpPr>
        <p:spPr>
          <a:xfrm>
            <a:off x="6260440" y="3566160"/>
            <a:ext cx="1156716" cy="201168"/>
          </a:xfrm>
          <a:prstGeom prst="rect">
            <a:avLst/>
          </a:prstGeom>
          <a:noFill/>
          <a:ln/>
        </p:spPr>
        <p:txBody>
          <a:bodyPr wrap="square" lIns="0" tIns="0" rIns="0" bIns="0" rtlCol="0" anchor="t"/>
          <a:lstStyle/>
          <a:p>
            <a:pPr indent="0" marL="0">
              <a:buNone/>
            </a:pPr>
            <a:r>
              <a:rPr lang="en-US" sz="800" b="1" spc="100" kern="0" dirty="0">
                <a:solidFill>
                  <a:schemeClr val="accent4"/>
                </a:solidFill>
              </a:rPr>
              <a:t>CATEGORY</a:t>
            </a:r>
            <a:endParaRPr lang="en-US" sz="800" dirty="0"/>
          </a:p>
        </p:txBody>
      </p:sp>
      <p:sp>
        <p:nvSpPr>
          <p:cNvPr id="26" name="Text 23"/>
          <p:cNvSpPr txBox="1"/>
          <p:nvPr/>
        </p:nvSpPr>
        <p:spPr>
          <a:xfrm>
            <a:off x="6260440" y="3758184"/>
            <a:ext cx="1156716" cy="274320"/>
          </a:xfrm>
          <a:prstGeom prst="rect">
            <a:avLst/>
          </a:prstGeom>
          <a:noFill/>
          <a:ln/>
        </p:spPr>
        <p:txBody>
          <a:bodyPr wrap="square" lIns="0" tIns="0" rIns="0" bIns="0" rtlCol="0" anchor="t"/>
          <a:lstStyle/>
          <a:p>
            <a:pPr indent="0" marL="0">
              <a:buNone/>
            </a:pPr>
            <a:r>
              <a:rPr lang="en-US" sz="1200" b="1" dirty="0">
                <a:solidFill>
                  <a:schemeClr val="tx1"/>
                </a:solidFill>
              </a:rPr>
              <a:t>Tabletop Games</a:t>
            </a:r>
            <a:endParaRPr lang="en-US" sz="1200" dirty="0"/>
          </a:p>
        </p:txBody>
      </p:sp>
      <p:sp>
        <p:nvSpPr>
          <p:cNvPr id="27" name="plan Country"/>
          <p:cNvSpPr/>
          <p:nvPr/>
        </p:nvSpPr>
        <p:spPr>
          <a:xfrm>
            <a:off x="4701388" y="4133088"/>
            <a:ext cx="1339596" cy="530352"/>
          </a:xfrm>
          <a:prstGeom prst="roundRect">
            <a:avLst>
              <a:gd name="adj" fmla="val 10345"/>
            </a:avLst>
          </a:prstGeom>
          <a:solidFill>
            <a:schemeClr val="bg1"/>
          </a:solidFill>
          <a:ln w="12700">
            <a:solidFill>
              <a:srgbClr val="E1E5E3"/>
            </a:solidFill>
            <a:prstDash val="solid"/>
          </a:ln>
        </p:spPr>
      </p:sp>
      <p:sp>
        <p:nvSpPr>
          <p:cNvPr id="28" name="Text 25"/>
          <p:cNvSpPr txBox="1"/>
          <p:nvPr/>
        </p:nvSpPr>
        <p:spPr>
          <a:xfrm>
            <a:off x="4811116" y="4178808"/>
            <a:ext cx="1156716" cy="201168"/>
          </a:xfrm>
          <a:prstGeom prst="rect">
            <a:avLst/>
          </a:prstGeom>
          <a:noFill/>
          <a:ln/>
        </p:spPr>
        <p:txBody>
          <a:bodyPr wrap="square" lIns="0" tIns="0" rIns="0" bIns="0" rtlCol="0" anchor="t"/>
          <a:lstStyle/>
          <a:p>
            <a:pPr indent="0" marL="0">
              <a:buNone/>
            </a:pPr>
            <a:r>
              <a:rPr lang="en-US" sz="800" b="1" spc="100" kern="0" dirty="0">
                <a:solidFill>
                  <a:schemeClr val="accent4"/>
                </a:solidFill>
              </a:rPr>
              <a:t>COUNTRY</a:t>
            </a:r>
            <a:endParaRPr lang="en-US" sz="800" dirty="0"/>
          </a:p>
        </p:txBody>
      </p:sp>
      <p:sp>
        <p:nvSpPr>
          <p:cNvPr id="29" name="Text 26"/>
          <p:cNvSpPr txBox="1"/>
          <p:nvPr/>
        </p:nvSpPr>
        <p:spPr>
          <a:xfrm>
            <a:off x="4811116" y="4370832"/>
            <a:ext cx="1156716" cy="274320"/>
          </a:xfrm>
          <a:prstGeom prst="rect">
            <a:avLst/>
          </a:prstGeom>
          <a:noFill/>
          <a:ln/>
        </p:spPr>
        <p:txBody>
          <a:bodyPr wrap="square" lIns="0" tIns="0" rIns="0" bIns="0" rtlCol="0" anchor="t"/>
          <a:lstStyle/>
          <a:p>
            <a:pPr indent="0" marL="0">
              <a:buNone/>
            </a:pPr>
            <a:r>
              <a:rPr lang="en-US" sz="1200" b="1" dirty="0">
                <a:solidFill>
                  <a:schemeClr val="tx1"/>
                </a:solidFill>
              </a:rPr>
              <a:t>US</a:t>
            </a:r>
            <a:endParaRPr lang="en-US" sz="1200" dirty="0"/>
          </a:p>
        </p:txBody>
      </p:sp>
      <p:sp>
        <p:nvSpPr>
          <p:cNvPr id="30" name="plan Length"/>
          <p:cNvSpPr/>
          <p:nvPr/>
        </p:nvSpPr>
        <p:spPr>
          <a:xfrm>
            <a:off x="6150712" y="4133088"/>
            <a:ext cx="1339596" cy="530352"/>
          </a:xfrm>
          <a:prstGeom prst="roundRect">
            <a:avLst>
              <a:gd name="adj" fmla="val 10345"/>
            </a:avLst>
          </a:prstGeom>
          <a:solidFill>
            <a:schemeClr val="bg1"/>
          </a:solidFill>
          <a:ln w="12700">
            <a:solidFill>
              <a:srgbClr val="E1E5E3"/>
            </a:solidFill>
            <a:prstDash val="solid"/>
          </a:ln>
        </p:spPr>
      </p:sp>
      <p:sp>
        <p:nvSpPr>
          <p:cNvPr id="31" name="Text 28"/>
          <p:cNvSpPr txBox="1"/>
          <p:nvPr/>
        </p:nvSpPr>
        <p:spPr>
          <a:xfrm>
            <a:off x="6260440" y="4178808"/>
            <a:ext cx="1156716" cy="201168"/>
          </a:xfrm>
          <a:prstGeom prst="rect">
            <a:avLst/>
          </a:prstGeom>
          <a:noFill/>
          <a:ln/>
        </p:spPr>
        <p:txBody>
          <a:bodyPr wrap="square" lIns="0" tIns="0" rIns="0" bIns="0" rtlCol="0" anchor="t"/>
          <a:lstStyle/>
          <a:p>
            <a:pPr indent="0" marL="0">
              <a:buNone/>
            </a:pPr>
            <a:r>
              <a:rPr lang="en-US" sz="800" b="1" spc="100" kern="0" dirty="0">
                <a:solidFill>
                  <a:schemeClr val="accent4"/>
                </a:solidFill>
              </a:rPr>
              <a:t>LENGTH</a:t>
            </a:r>
            <a:endParaRPr lang="en-US" sz="800" dirty="0"/>
          </a:p>
        </p:txBody>
      </p:sp>
      <p:sp>
        <p:nvSpPr>
          <p:cNvPr id="32" name="Text 29"/>
          <p:cNvSpPr txBox="1"/>
          <p:nvPr/>
        </p:nvSpPr>
        <p:spPr>
          <a:xfrm>
            <a:off x="6260440" y="4370832"/>
            <a:ext cx="1156716" cy="274320"/>
          </a:xfrm>
          <a:prstGeom prst="rect">
            <a:avLst/>
          </a:prstGeom>
          <a:noFill/>
          <a:ln/>
        </p:spPr>
        <p:txBody>
          <a:bodyPr wrap="square" lIns="0" tIns="0" rIns="0" bIns="0" rtlCol="0" anchor="t"/>
          <a:lstStyle/>
          <a:p>
            <a:pPr indent="0" marL="0">
              <a:buNone/>
            </a:pPr>
            <a:r>
              <a:rPr lang="en-US" sz="1200" b="1" dirty="0">
                <a:solidFill>
                  <a:schemeClr val="tx1"/>
                </a:solidFill>
              </a:rPr>
              <a:t>30 days</a:t>
            </a:r>
            <a:endParaRPr lang="en-US" sz="1200" dirty="0"/>
          </a:p>
        </p:txBody>
      </p:sp>
      <p:sp>
        <p:nvSpPr>
          <p:cNvPr id="33" name="plan Launch day"/>
          <p:cNvSpPr/>
          <p:nvPr/>
        </p:nvSpPr>
        <p:spPr>
          <a:xfrm>
            <a:off x="4701388" y="4745736"/>
            <a:ext cx="2788920" cy="530352"/>
          </a:xfrm>
          <a:prstGeom prst="roundRect">
            <a:avLst>
              <a:gd name="adj" fmla="val 10345"/>
            </a:avLst>
          </a:prstGeom>
          <a:solidFill>
            <a:schemeClr val="bg1"/>
          </a:solidFill>
          <a:ln w="12700">
            <a:solidFill>
              <a:srgbClr val="E1E5E3"/>
            </a:solidFill>
            <a:prstDash val="solid"/>
          </a:ln>
        </p:spPr>
      </p:sp>
      <p:sp>
        <p:nvSpPr>
          <p:cNvPr id="34" name="Text 31"/>
          <p:cNvSpPr txBox="1"/>
          <p:nvPr/>
        </p:nvSpPr>
        <p:spPr>
          <a:xfrm>
            <a:off x="4811116" y="4791456"/>
            <a:ext cx="2606040" cy="201168"/>
          </a:xfrm>
          <a:prstGeom prst="rect">
            <a:avLst/>
          </a:prstGeom>
          <a:noFill/>
          <a:ln/>
        </p:spPr>
        <p:txBody>
          <a:bodyPr wrap="square" lIns="0" tIns="0" rIns="0" bIns="0" rtlCol="0" anchor="t"/>
          <a:lstStyle/>
          <a:p>
            <a:pPr indent="0" marL="0">
              <a:buNone/>
            </a:pPr>
            <a:r>
              <a:rPr lang="en-US" sz="800" b="1" spc="100" kern="0" dirty="0">
                <a:solidFill>
                  <a:schemeClr val="accent4"/>
                </a:solidFill>
              </a:rPr>
              <a:t>LAUNCH DAY</a:t>
            </a:r>
            <a:endParaRPr lang="en-US" sz="800" dirty="0"/>
          </a:p>
        </p:txBody>
      </p:sp>
      <p:sp>
        <p:nvSpPr>
          <p:cNvPr id="35" name="Text 32"/>
          <p:cNvSpPr txBox="1"/>
          <p:nvPr/>
        </p:nvSpPr>
        <p:spPr>
          <a:xfrm>
            <a:off x="4811116" y="4983480"/>
            <a:ext cx="2606040" cy="274320"/>
          </a:xfrm>
          <a:prstGeom prst="rect">
            <a:avLst/>
          </a:prstGeom>
          <a:noFill/>
          <a:ln/>
        </p:spPr>
        <p:txBody>
          <a:bodyPr wrap="square" lIns="0" tIns="0" rIns="0" bIns="0" rtlCol="0" anchor="t"/>
          <a:lstStyle/>
          <a:p>
            <a:pPr indent="0" marL="0">
              <a:buNone/>
            </a:pPr>
            <a:r>
              <a:rPr lang="en-US" sz="1200" b="1" dirty="0">
                <a:solidFill>
                  <a:schemeClr val="tx1"/>
                </a:solidFill>
              </a:rPr>
              <a:t>Tuesday</a:t>
            </a:r>
            <a:endParaRPr lang="en-US" sz="1200" dirty="0"/>
          </a:p>
        </p:txBody>
      </p:sp>
      <p:sp>
        <p:nvSpPr>
          <p:cNvPr id="36" name="plan Title"/>
          <p:cNvSpPr/>
          <p:nvPr/>
        </p:nvSpPr>
        <p:spPr>
          <a:xfrm>
            <a:off x="4701388" y="5358384"/>
            <a:ext cx="2788920" cy="530352"/>
          </a:xfrm>
          <a:prstGeom prst="roundRect">
            <a:avLst>
              <a:gd name="adj" fmla="val 10345"/>
            </a:avLst>
          </a:prstGeom>
          <a:solidFill>
            <a:schemeClr val="bg1"/>
          </a:solidFill>
          <a:ln w="12700">
            <a:solidFill>
              <a:srgbClr val="E1E5E3"/>
            </a:solidFill>
            <a:prstDash val="solid"/>
          </a:ln>
        </p:spPr>
      </p:sp>
      <p:sp>
        <p:nvSpPr>
          <p:cNvPr id="37" name="Text 34"/>
          <p:cNvSpPr txBox="1"/>
          <p:nvPr/>
        </p:nvSpPr>
        <p:spPr>
          <a:xfrm>
            <a:off x="4811116" y="5404104"/>
            <a:ext cx="2606040" cy="201168"/>
          </a:xfrm>
          <a:prstGeom prst="rect">
            <a:avLst/>
          </a:prstGeom>
          <a:noFill/>
          <a:ln/>
        </p:spPr>
        <p:txBody>
          <a:bodyPr wrap="square" lIns="0" tIns="0" rIns="0" bIns="0" rtlCol="0" anchor="t"/>
          <a:lstStyle/>
          <a:p>
            <a:pPr indent="0" marL="0">
              <a:buNone/>
            </a:pPr>
            <a:r>
              <a:rPr lang="en-US" sz="800" b="1" spc="100" kern="0" dirty="0">
                <a:solidFill>
                  <a:schemeClr val="accent4"/>
                </a:solidFill>
              </a:rPr>
              <a:t>TITLE</a:t>
            </a:r>
            <a:endParaRPr lang="en-US" sz="800" dirty="0"/>
          </a:p>
        </p:txBody>
      </p:sp>
      <p:sp>
        <p:nvSpPr>
          <p:cNvPr id="38" name="Text 35"/>
          <p:cNvSpPr txBox="1"/>
          <p:nvPr/>
        </p:nvSpPr>
        <p:spPr>
          <a:xfrm>
            <a:off x="4811116" y="5596128"/>
            <a:ext cx="2606040" cy="274320"/>
          </a:xfrm>
          <a:prstGeom prst="rect">
            <a:avLst/>
          </a:prstGeom>
          <a:noFill/>
          <a:ln/>
        </p:spPr>
        <p:txBody>
          <a:bodyPr wrap="square" lIns="0" tIns="0" rIns="0" bIns="0" rtlCol="0" anchor="t"/>
          <a:lstStyle/>
          <a:p>
            <a:pPr indent="0" marL="0">
              <a:buNone/>
            </a:pPr>
            <a:r>
              <a:rPr lang="en-US" sz="1200" b="1" dirty="0">
                <a:solidFill>
                  <a:schemeClr val="tx1"/>
                </a:solidFill>
              </a:rPr>
              <a:t>“Heroes of the Frozen Northern Isles”</a:t>
            </a:r>
            <a:endParaRPr lang="en-US" sz="1200" dirty="0"/>
          </a:p>
        </p:txBody>
      </p:sp>
      <p:graphicFrame>
        <p:nvGraphicFramePr>
          <p:cNvPr id="39" name="chance ring" descr=""/>
          <p:cNvGraphicFramePr/>
          <p:nvPr/>
        </p:nvGraphicFramePr>
        <p:xfrm>
          <a:off x="8442655" y="3474720"/>
          <a:ext cx="1737360" cy="1737360"/>
        </p:xfrm>
        <a:graphic xmlns:a="http://schemas.openxmlformats.org/drawingml/2006/main">
          <a:graphicData uri="http://schemas.openxmlformats.org/drawingml/2006/chart">
            <c:chart xmlns:c="http://schemas.openxmlformats.org/drawingml/2006/chart" r:id="rId1"/>
          </a:graphicData>
        </a:graphic>
      </p:graphicFrame>
      <p:sp>
        <p:nvSpPr>
          <p:cNvPr id="40" name="Text 36"/>
          <p:cNvSpPr txBox="1"/>
          <p:nvPr/>
        </p:nvSpPr>
        <p:spPr>
          <a:xfrm>
            <a:off x="8442655" y="3474720"/>
            <a:ext cx="1737360" cy="1737360"/>
          </a:xfrm>
          <a:prstGeom prst="rect">
            <a:avLst/>
          </a:prstGeom>
          <a:noFill/>
          <a:ln/>
        </p:spPr>
        <p:txBody>
          <a:bodyPr wrap="square" lIns="0" tIns="0" rIns="0" bIns="0" rtlCol="0" anchor="ctr"/>
          <a:lstStyle/>
          <a:p>
            <a:pPr algn="ctr" indent="0" marL="0">
              <a:buNone/>
            </a:pPr>
            <a:r>
              <a:rPr lang="en-US" sz="2600" b="1" dirty="0">
                <a:solidFill>
                  <a:schemeClr val="accent6"/>
                </a:solidFill>
                <a:latin typeface="Calibri" pitchFamily="34" charset="0"/>
                <a:ea typeface="Calibri" pitchFamily="34" charset="-122"/>
                <a:cs typeface="Calibri" pitchFamily="34" charset="-120"/>
              </a:rPr>
              <a:t>51%</a:t>
            </a:r>
            <a:endParaRPr lang="en-US" sz="2600" dirty="0"/>
          </a:p>
        </p:txBody>
      </p:sp>
      <p:sp>
        <p:nvSpPr>
          <p:cNvPr id="41" name="Text 37"/>
          <p:cNvSpPr txBox="1"/>
          <p:nvPr/>
        </p:nvSpPr>
        <p:spPr>
          <a:xfrm>
            <a:off x="10271455" y="3931920"/>
            <a:ext cx="1325880" cy="822960"/>
          </a:xfrm>
          <a:prstGeom prst="rect">
            <a:avLst/>
          </a:prstGeom>
          <a:noFill/>
          <a:ln/>
        </p:spPr>
        <p:txBody>
          <a:bodyPr wrap="square" lIns="0" tIns="0" rIns="0" bIns="0" rtlCol="0" anchor="ctr"/>
          <a:lstStyle/>
          <a:p>
            <a:pPr indent="0" marL="0">
              <a:buNone/>
            </a:pPr>
            <a:r>
              <a:rPr lang="en-US" sz="1400" dirty="0">
                <a:solidFill>
                  <a:schemeClr val="accent4"/>
                </a:solidFill>
              </a:rPr>
              <a:t>chance of funding</a:t>
            </a:r>
            <a:endParaRPr lang="en-US" sz="1400" dirty="0"/>
          </a:p>
        </p:txBody>
      </p:sp>
      <p:sp>
        <p:nvSpPr>
          <p:cNvPr id="42"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~1/3 of all projects get funded</a:t>
            </a:r>
            <a:endParaRPr lang="en-US" sz="3400" dirty="0"/>
          </a:p>
        </p:txBody>
      </p:sp>
      <p:sp>
        <p:nvSpPr>
          <p:cNvPr id="5" name="dot 1"/>
          <p:cNvSpPr/>
          <p:nvPr/>
        </p:nvSpPr>
        <p:spPr>
          <a:xfrm>
            <a:off x="548640" y="1783080"/>
            <a:ext cx="329184" cy="329184"/>
          </a:xfrm>
          <a:prstGeom prst="ellipse">
            <a:avLst/>
          </a:prstGeom>
          <a:solidFill>
            <a:srgbClr val="05CE78"/>
          </a:solidFill>
          <a:ln/>
        </p:spPr>
      </p:sp>
      <p:sp>
        <p:nvSpPr>
          <p:cNvPr id="6" name="dot 2"/>
          <p:cNvSpPr/>
          <p:nvPr/>
        </p:nvSpPr>
        <p:spPr>
          <a:xfrm>
            <a:off x="969264" y="1783080"/>
            <a:ext cx="329184" cy="329184"/>
          </a:xfrm>
          <a:prstGeom prst="ellipse">
            <a:avLst/>
          </a:prstGeom>
          <a:solidFill>
            <a:srgbClr val="05CE78"/>
          </a:solidFill>
          <a:ln/>
        </p:spPr>
      </p:sp>
      <p:sp>
        <p:nvSpPr>
          <p:cNvPr id="7" name="dot 3"/>
          <p:cNvSpPr/>
          <p:nvPr/>
        </p:nvSpPr>
        <p:spPr>
          <a:xfrm>
            <a:off x="1389888" y="1783080"/>
            <a:ext cx="329184" cy="329184"/>
          </a:xfrm>
          <a:prstGeom prst="ellipse">
            <a:avLst/>
          </a:prstGeom>
          <a:solidFill>
            <a:srgbClr val="05CE78"/>
          </a:solidFill>
          <a:ln/>
        </p:spPr>
      </p:sp>
      <p:sp>
        <p:nvSpPr>
          <p:cNvPr id="8" name="dot 4"/>
          <p:cNvSpPr/>
          <p:nvPr/>
        </p:nvSpPr>
        <p:spPr>
          <a:xfrm>
            <a:off x="1810512" y="1783080"/>
            <a:ext cx="329184" cy="329184"/>
          </a:xfrm>
          <a:prstGeom prst="ellipse">
            <a:avLst/>
          </a:prstGeom>
          <a:solidFill>
            <a:srgbClr val="05CE78"/>
          </a:solidFill>
          <a:ln/>
        </p:spPr>
      </p:sp>
      <p:sp>
        <p:nvSpPr>
          <p:cNvPr id="9" name="dot 5"/>
          <p:cNvSpPr/>
          <p:nvPr/>
        </p:nvSpPr>
        <p:spPr>
          <a:xfrm>
            <a:off x="2231136" y="1783080"/>
            <a:ext cx="329184" cy="329184"/>
          </a:xfrm>
          <a:prstGeom prst="ellipse">
            <a:avLst/>
          </a:prstGeom>
          <a:solidFill>
            <a:srgbClr val="05CE78"/>
          </a:solidFill>
          <a:ln/>
        </p:spPr>
      </p:sp>
      <p:sp>
        <p:nvSpPr>
          <p:cNvPr id="10" name="dot 6"/>
          <p:cNvSpPr/>
          <p:nvPr/>
        </p:nvSpPr>
        <p:spPr>
          <a:xfrm>
            <a:off x="2651760" y="1783080"/>
            <a:ext cx="329184" cy="329184"/>
          </a:xfrm>
          <a:prstGeom prst="ellipse">
            <a:avLst/>
          </a:prstGeom>
          <a:solidFill>
            <a:srgbClr val="05CE78"/>
          </a:solidFill>
          <a:ln/>
        </p:spPr>
      </p:sp>
      <p:sp>
        <p:nvSpPr>
          <p:cNvPr id="11" name="dot 7"/>
          <p:cNvSpPr/>
          <p:nvPr/>
        </p:nvSpPr>
        <p:spPr>
          <a:xfrm>
            <a:off x="3072384" y="1783080"/>
            <a:ext cx="329184" cy="329184"/>
          </a:xfrm>
          <a:prstGeom prst="ellipse">
            <a:avLst/>
          </a:prstGeom>
          <a:solidFill>
            <a:srgbClr val="05CE78"/>
          </a:solidFill>
          <a:ln/>
        </p:spPr>
      </p:sp>
      <p:sp>
        <p:nvSpPr>
          <p:cNvPr id="12" name="dot 8"/>
          <p:cNvSpPr/>
          <p:nvPr/>
        </p:nvSpPr>
        <p:spPr>
          <a:xfrm>
            <a:off x="3493008" y="1783080"/>
            <a:ext cx="329184" cy="329184"/>
          </a:xfrm>
          <a:prstGeom prst="ellipse">
            <a:avLst/>
          </a:prstGeom>
          <a:solidFill>
            <a:srgbClr val="05CE78"/>
          </a:solidFill>
          <a:ln/>
        </p:spPr>
      </p:sp>
      <p:sp>
        <p:nvSpPr>
          <p:cNvPr id="13" name="dot 9"/>
          <p:cNvSpPr/>
          <p:nvPr/>
        </p:nvSpPr>
        <p:spPr>
          <a:xfrm>
            <a:off x="3913632" y="1783080"/>
            <a:ext cx="329184" cy="329184"/>
          </a:xfrm>
          <a:prstGeom prst="ellipse">
            <a:avLst/>
          </a:prstGeom>
          <a:solidFill>
            <a:srgbClr val="05CE78"/>
          </a:solidFill>
          <a:ln/>
        </p:spPr>
      </p:sp>
      <p:sp>
        <p:nvSpPr>
          <p:cNvPr id="14" name="dot 10"/>
          <p:cNvSpPr/>
          <p:nvPr/>
        </p:nvSpPr>
        <p:spPr>
          <a:xfrm>
            <a:off x="4334256" y="1783080"/>
            <a:ext cx="329184" cy="329184"/>
          </a:xfrm>
          <a:prstGeom prst="ellipse">
            <a:avLst/>
          </a:prstGeom>
          <a:solidFill>
            <a:srgbClr val="05CE78"/>
          </a:solidFill>
          <a:ln/>
        </p:spPr>
      </p:sp>
      <p:sp>
        <p:nvSpPr>
          <p:cNvPr id="15" name="dot 11"/>
          <p:cNvSpPr/>
          <p:nvPr/>
        </p:nvSpPr>
        <p:spPr>
          <a:xfrm>
            <a:off x="548640" y="2203704"/>
            <a:ext cx="329184" cy="329184"/>
          </a:xfrm>
          <a:prstGeom prst="ellipse">
            <a:avLst/>
          </a:prstGeom>
          <a:solidFill>
            <a:srgbClr val="05CE78"/>
          </a:solidFill>
          <a:ln/>
        </p:spPr>
      </p:sp>
      <p:sp>
        <p:nvSpPr>
          <p:cNvPr id="16" name="dot 12"/>
          <p:cNvSpPr/>
          <p:nvPr/>
        </p:nvSpPr>
        <p:spPr>
          <a:xfrm>
            <a:off x="969264" y="2203704"/>
            <a:ext cx="329184" cy="329184"/>
          </a:xfrm>
          <a:prstGeom prst="ellipse">
            <a:avLst/>
          </a:prstGeom>
          <a:solidFill>
            <a:srgbClr val="05CE78"/>
          </a:solidFill>
          <a:ln/>
        </p:spPr>
      </p:sp>
      <p:sp>
        <p:nvSpPr>
          <p:cNvPr id="17" name="dot 13"/>
          <p:cNvSpPr/>
          <p:nvPr/>
        </p:nvSpPr>
        <p:spPr>
          <a:xfrm>
            <a:off x="1389888" y="2203704"/>
            <a:ext cx="329184" cy="329184"/>
          </a:xfrm>
          <a:prstGeom prst="ellipse">
            <a:avLst/>
          </a:prstGeom>
          <a:solidFill>
            <a:srgbClr val="05CE78"/>
          </a:solidFill>
          <a:ln/>
        </p:spPr>
      </p:sp>
      <p:sp>
        <p:nvSpPr>
          <p:cNvPr id="18" name="dot 14"/>
          <p:cNvSpPr/>
          <p:nvPr/>
        </p:nvSpPr>
        <p:spPr>
          <a:xfrm>
            <a:off x="1810512" y="2203704"/>
            <a:ext cx="329184" cy="329184"/>
          </a:xfrm>
          <a:prstGeom prst="ellipse">
            <a:avLst/>
          </a:prstGeom>
          <a:solidFill>
            <a:srgbClr val="05CE78"/>
          </a:solidFill>
          <a:ln/>
        </p:spPr>
      </p:sp>
      <p:sp>
        <p:nvSpPr>
          <p:cNvPr id="19" name="dot 15"/>
          <p:cNvSpPr/>
          <p:nvPr/>
        </p:nvSpPr>
        <p:spPr>
          <a:xfrm>
            <a:off x="2231136" y="2203704"/>
            <a:ext cx="329184" cy="329184"/>
          </a:xfrm>
          <a:prstGeom prst="ellipse">
            <a:avLst/>
          </a:prstGeom>
          <a:solidFill>
            <a:srgbClr val="05CE78"/>
          </a:solidFill>
          <a:ln/>
        </p:spPr>
      </p:sp>
      <p:sp>
        <p:nvSpPr>
          <p:cNvPr id="20" name="dot 16"/>
          <p:cNvSpPr/>
          <p:nvPr/>
        </p:nvSpPr>
        <p:spPr>
          <a:xfrm>
            <a:off x="2651760" y="2203704"/>
            <a:ext cx="329184" cy="329184"/>
          </a:xfrm>
          <a:prstGeom prst="ellipse">
            <a:avLst/>
          </a:prstGeom>
          <a:solidFill>
            <a:srgbClr val="05CE78"/>
          </a:solidFill>
          <a:ln/>
        </p:spPr>
      </p:sp>
      <p:sp>
        <p:nvSpPr>
          <p:cNvPr id="21" name="dot 17"/>
          <p:cNvSpPr/>
          <p:nvPr/>
        </p:nvSpPr>
        <p:spPr>
          <a:xfrm>
            <a:off x="3072384" y="2203704"/>
            <a:ext cx="329184" cy="329184"/>
          </a:xfrm>
          <a:prstGeom prst="ellipse">
            <a:avLst/>
          </a:prstGeom>
          <a:solidFill>
            <a:srgbClr val="05CE78"/>
          </a:solidFill>
          <a:ln/>
        </p:spPr>
      </p:sp>
      <p:sp>
        <p:nvSpPr>
          <p:cNvPr id="22" name="dot 18"/>
          <p:cNvSpPr/>
          <p:nvPr/>
        </p:nvSpPr>
        <p:spPr>
          <a:xfrm>
            <a:off x="3493008" y="2203704"/>
            <a:ext cx="329184" cy="329184"/>
          </a:xfrm>
          <a:prstGeom prst="ellipse">
            <a:avLst/>
          </a:prstGeom>
          <a:solidFill>
            <a:srgbClr val="05CE78"/>
          </a:solidFill>
          <a:ln/>
        </p:spPr>
      </p:sp>
      <p:sp>
        <p:nvSpPr>
          <p:cNvPr id="23" name="dot 19"/>
          <p:cNvSpPr/>
          <p:nvPr/>
        </p:nvSpPr>
        <p:spPr>
          <a:xfrm>
            <a:off x="3913632" y="2203704"/>
            <a:ext cx="329184" cy="329184"/>
          </a:xfrm>
          <a:prstGeom prst="ellipse">
            <a:avLst/>
          </a:prstGeom>
          <a:solidFill>
            <a:srgbClr val="05CE78"/>
          </a:solidFill>
          <a:ln/>
        </p:spPr>
      </p:sp>
      <p:sp>
        <p:nvSpPr>
          <p:cNvPr id="24" name="dot 20"/>
          <p:cNvSpPr/>
          <p:nvPr/>
        </p:nvSpPr>
        <p:spPr>
          <a:xfrm>
            <a:off x="4334256" y="2203704"/>
            <a:ext cx="329184" cy="329184"/>
          </a:xfrm>
          <a:prstGeom prst="ellipse">
            <a:avLst/>
          </a:prstGeom>
          <a:solidFill>
            <a:srgbClr val="05CE78"/>
          </a:solidFill>
          <a:ln/>
        </p:spPr>
      </p:sp>
      <p:sp>
        <p:nvSpPr>
          <p:cNvPr id="25" name="dot 21"/>
          <p:cNvSpPr/>
          <p:nvPr/>
        </p:nvSpPr>
        <p:spPr>
          <a:xfrm>
            <a:off x="548640" y="2624328"/>
            <a:ext cx="329184" cy="329184"/>
          </a:xfrm>
          <a:prstGeom prst="ellipse">
            <a:avLst/>
          </a:prstGeom>
          <a:solidFill>
            <a:srgbClr val="05CE78"/>
          </a:solidFill>
          <a:ln/>
        </p:spPr>
      </p:sp>
      <p:sp>
        <p:nvSpPr>
          <p:cNvPr id="26" name="dot 22"/>
          <p:cNvSpPr/>
          <p:nvPr/>
        </p:nvSpPr>
        <p:spPr>
          <a:xfrm>
            <a:off x="969264" y="2624328"/>
            <a:ext cx="329184" cy="329184"/>
          </a:xfrm>
          <a:prstGeom prst="ellipse">
            <a:avLst/>
          </a:prstGeom>
          <a:solidFill>
            <a:srgbClr val="05CE78"/>
          </a:solidFill>
          <a:ln/>
        </p:spPr>
      </p:sp>
      <p:sp>
        <p:nvSpPr>
          <p:cNvPr id="27" name="dot 23"/>
          <p:cNvSpPr/>
          <p:nvPr/>
        </p:nvSpPr>
        <p:spPr>
          <a:xfrm>
            <a:off x="1389888" y="2624328"/>
            <a:ext cx="329184" cy="329184"/>
          </a:xfrm>
          <a:prstGeom prst="ellipse">
            <a:avLst/>
          </a:prstGeom>
          <a:solidFill>
            <a:srgbClr val="05CE78"/>
          </a:solidFill>
          <a:ln/>
        </p:spPr>
      </p:sp>
      <p:sp>
        <p:nvSpPr>
          <p:cNvPr id="28" name="dot 24"/>
          <p:cNvSpPr/>
          <p:nvPr/>
        </p:nvSpPr>
        <p:spPr>
          <a:xfrm>
            <a:off x="1810512" y="2624328"/>
            <a:ext cx="329184" cy="329184"/>
          </a:xfrm>
          <a:prstGeom prst="ellipse">
            <a:avLst/>
          </a:prstGeom>
          <a:solidFill>
            <a:srgbClr val="05CE78"/>
          </a:solidFill>
          <a:ln/>
        </p:spPr>
      </p:sp>
      <p:sp>
        <p:nvSpPr>
          <p:cNvPr id="29" name="dot 25"/>
          <p:cNvSpPr/>
          <p:nvPr/>
        </p:nvSpPr>
        <p:spPr>
          <a:xfrm>
            <a:off x="2231136" y="2624328"/>
            <a:ext cx="329184" cy="329184"/>
          </a:xfrm>
          <a:prstGeom prst="ellipse">
            <a:avLst/>
          </a:prstGeom>
          <a:solidFill>
            <a:srgbClr val="05CE78"/>
          </a:solidFill>
          <a:ln/>
        </p:spPr>
      </p:sp>
      <p:sp>
        <p:nvSpPr>
          <p:cNvPr id="30" name="dot 26"/>
          <p:cNvSpPr/>
          <p:nvPr/>
        </p:nvSpPr>
        <p:spPr>
          <a:xfrm>
            <a:off x="2651760" y="2624328"/>
            <a:ext cx="329184" cy="329184"/>
          </a:xfrm>
          <a:prstGeom prst="ellipse">
            <a:avLst/>
          </a:prstGeom>
          <a:solidFill>
            <a:srgbClr val="05CE78"/>
          </a:solidFill>
          <a:ln/>
        </p:spPr>
      </p:sp>
      <p:sp>
        <p:nvSpPr>
          <p:cNvPr id="31" name="dot 27"/>
          <p:cNvSpPr/>
          <p:nvPr/>
        </p:nvSpPr>
        <p:spPr>
          <a:xfrm>
            <a:off x="3072384" y="2624328"/>
            <a:ext cx="329184" cy="329184"/>
          </a:xfrm>
          <a:prstGeom prst="ellipse">
            <a:avLst/>
          </a:prstGeom>
          <a:solidFill>
            <a:srgbClr val="05CE78"/>
          </a:solidFill>
          <a:ln/>
        </p:spPr>
      </p:sp>
      <p:sp>
        <p:nvSpPr>
          <p:cNvPr id="32" name="dot 28"/>
          <p:cNvSpPr/>
          <p:nvPr/>
        </p:nvSpPr>
        <p:spPr>
          <a:xfrm>
            <a:off x="3493008" y="2624328"/>
            <a:ext cx="329184" cy="329184"/>
          </a:xfrm>
          <a:prstGeom prst="ellipse">
            <a:avLst/>
          </a:prstGeom>
          <a:solidFill>
            <a:srgbClr val="05CE78"/>
          </a:solidFill>
          <a:ln/>
        </p:spPr>
      </p:sp>
      <p:sp>
        <p:nvSpPr>
          <p:cNvPr id="33" name="dot 29"/>
          <p:cNvSpPr/>
          <p:nvPr/>
        </p:nvSpPr>
        <p:spPr>
          <a:xfrm>
            <a:off x="3913632" y="2624328"/>
            <a:ext cx="329184" cy="329184"/>
          </a:xfrm>
          <a:prstGeom prst="ellipse">
            <a:avLst/>
          </a:prstGeom>
          <a:solidFill>
            <a:srgbClr val="05CE78"/>
          </a:solidFill>
          <a:ln/>
        </p:spPr>
      </p:sp>
      <p:sp>
        <p:nvSpPr>
          <p:cNvPr id="34" name="dot 30"/>
          <p:cNvSpPr/>
          <p:nvPr/>
        </p:nvSpPr>
        <p:spPr>
          <a:xfrm>
            <a:off x="4334256" y="2624328"/>
            <a:ext cx="329184" cy="329184"/>
          </a:xfrm>
          <a:prstGeom prst="ellipse">
            <a:avLst/>
          </a:prstGeom>
          <a:solidFill>
            <a:srgbClr val="05CE78"/>
          </a:solidFill>
          <a:ln/>
        </p:spPr>
      </p:sp>
      <p:sp>
        <p:nvSpPr>
          <p:cNvPr id="35" name="dot 31"/>
          <p:cNvSpPr/>
          <p:nvPr/>
        </p:nvSpPr>
        <p:spPr>
          <a:xfrm>
            <a:off x="548640" y="3044952"/>
            <a:ext cx="329184" cy="329184"/>
          </a:xfrm>
          <a:prstGeom prst="ellipse">
            <a:avLst/>
          </a:prstGeom>
          <a:solidFill>
            <a:srgbClr val="05CE78"/>
          </a:solidFill>
          <a:ln/>
        </p:spPr>
      </p:sp>
      <p:sp>
        <p:nvSpPr>
          <p:cNvPr id="36" name="dot 32"/>
          <p:cNvSpPr/>
          <p:nvPr/>
        </p:nvSpPr>
        <p:spPr>
          <a:xfrm>
            <a:off x="969264" y="3044952"/>
            <a:ext cx="329184" cy="329184"/>
          </a:xfrm>
          <a:prstGeom prst="ellipse">
            <a:avLst/>
          </a:prstGeom>
          <a:solidFill>
            <a:srgbClr val="05CE78"/>
          </a:solidFill>
          <a:ln/>
        </p:spPr>
      </p:sp>
      <p:sp>
        <p:nvSpPr>
          <p:cNvPr id="37" name="dot 33"/>
          <p:cNvSpPr/>
          <p:nvPr/>
        </p:nvSpPr>
        <p:spPr>
          <a:xfrm>
            <a:off x="1389888" y="3044952"/>
            <a:ext cx="329184" cy="329184"/>
          </a:xfrm>
          <a:prstGeom prst="ellipse">
            <a:avLst/>
          </a:prstGeom>
          <a:solidFill>
            <a:srgbClr val="05CE78"/>
          </a:solidFill>
          <a:ln/>
        </p:spPr>
      </p:sp>
      <p:sp>
        <p:nvSpPr>
          <p:cNvPr id="38" name="dot 34"/>
          <p:cNvSpPr/>
          <p:nvPr/>
        </p:nvSpPr>
        <p:spPr>
          <a:xfrm>
            <a:off x="1810512" y="3044952"/>
            <a:ext cx="329184" cy="329184"/>
          </a:xfrm>
          <a:prstGeom prst="ellipse">
            <a:avLst/>
          </a:prstGeom>
          <a:solidFill>
            <a:srgbClr val="05CE78"/>
          </a:solidFill>
          <a:ln/>
        </p:spPr>
      </p:sp>
      <p:sp>
        <p:nvSpPr>
          <p:cNvPr id="39" name="dot 35"/>
          <p:cNvSpPr/>
          <p:nvPr/>
        </p:nvSpPr>
        <p:spPr>
          <a:xfrm>
            <a:off x="2231136" y="3044952"/>
            <a:ext cx="329184" cy="329184"/>
          </a:xfrm>
          <a:prstGeom prst="ellipse">
            <a:avLst/>
          </a:prstGeom>
          <a:solidFill>
            <a:srgbClr val="05CE78"/>
          </a:solidFill>
          <a:ln/>
        </p:spPr>
      </p:sp>
      <p:sp>
        <p:nvSpPr>
          <p:cNvPr id="40" name="dot 36"/>
          <p:cNvSpPr/>
          <p:nvPr/>
        </p:nvSpPr>
        <p:spPr>
          <a:xfrm>
            <a:off x="2651760" y="3044952"/>
            <a:ext cx="329184" cy="329184"/>
          </a:xfrm>
          <a:prstGeom prst="ellipse">
            <a:avLst/>
          </a:prstGeom>
          <a:solidFill>
            <a:srgbClr val="05CE78"/>
          </a:solidFill>
          <a:ln/>
        </p:spPr>
      </p:sp>
      <p:sp>
        <p:nvSpPr>
          <p:cNvPr id="41" name="dot 37"/>
          <p:cNvSpPr/>
          <p:nvPr/>
        </p:nvSpPr>
        <p:spPr>
          <a:xfrm>
            <a:off x="3072384" y="3044952"/>
            <a:ext cx="329184" cy="329184"/>
          </a:xfrm>
          <a:prstGeom prst="ellipse">
            <a:avLst/>
          </a:prstGeom>
          <a:solidFill>
            <a:srgbClr val="C9CFCC"/>
          </a:solidFill>
          <a:ln/>
        </p:spPr>
      </p:sp>
      <p:sp>
        <p:nvSpPr>
          <p:cNvPr id="42" name="dot 38"/>
          <p:cNvSpPr/>
          <p:nvPr/>
        </p:nvSpPr>
        <p:spPr>
          <a:xfrm>
            <a:off x="3493008" y="3044952"/>
            <a:ext cx="329184" cy="329184"/>
          </a:xfrm>
          <a:prstGeom prst="ellipse">
            <a:avLst/>
          </a:prstGeom>
          <a:solidFill>
            <a:srgbClr val="C9CFCC"/>
          </a:solidFill>
          <a:ln/>
        </p:spPr>
      </p:sp>
      <p:sp>
        <p:nvSpPr>
          <p:cNvPr id="43" name="dot 39"/>
          <p:cNvSpPr/>
          <p:nvPr/>
        </p:nvSpPr>
        <p:spPr>
          <a:xfrm>
            <a:off x="3913632" y="3044952"/>
            <a:ext cx="329184" cy="329184"/>
          </a:xfrm>
          <a:prstGeom prst="ellipse">
            <a:avLst/>
          </a:prstGeom>
          <a:solidFill>
            <a:srgbClr val="C9CFCC"/>
          </a:solidFill>
          <a:ln/>
        </p:spPr>
      </p:sp>
      <p:sp>
        <p:nvSpPr>
          <p:cNvPr id="44" name="dot 40"/>
          <p:cNvSpPr/>
          <p:nvPr/>
        </p:nvSpPr>
        <p:spPr>
          <a:xfrm>
            <a:off x="4334256" y="3044952"/>
            <a:ext cx="329184" cy="329184"/>
          </a:xfrm>
          <a:prstGeom prst="ellipse">
            <a:avLst/>
          </a:prstGeom>
          <a:solidFill>
            <a:srgbClr val="C9CFCC"/>
          </a:solidFill>
          <a:ln/>
        </p:spPr>
      </p:sp>
      <p:sp>
        <p:nvSpPr>
          <p:cNvPr id="45" name="dot 41"/>
          <p:cNvSpPr/>
          <p:nvPr/>
        </p:nvSpPr>
        <p:spPr>
          <a:xfrm>
            <a:off x="548640" y="3465576"/>
            <a:ext cx="329184" cy="329184"/>
          </a:xfrm>
          <a:prstGeom prst="ellipse">
            <a:avLst/>
          </a:prstGeom>
          <a:solidFill>
            <a:srgbClr val="C9CFCC"/>
          </a:solidFill>
          <a:ln/>
        </p:spPr>
      </p:sp>
      <p:sp>
        <p:nvSpPr>
          <p:cNvPr id="46" name="dot 42"/>
          <p:cNvSpPr/>
          <p:nvPr/>
        </p:nvSpPr>
        <p:spPr>
          <a:xfrm>
            <a:off x="969264" y="3465576"/>
            <a:ext cx="329184" cy="329184"/>
          </a:xfrm>
          <a:prstGeom prst="ellipse">
            <a:avLst/>
          </a:prstGeom>
          <a:solidFill>
            <a:srgbClr val="C9CFCC"/>
          </a:solidFill>
          <a:ln/>
        </p:spPr>
      </p:sp>
      <p:sp>
        <p:nvSpPr>
          <p:cNvPr id="47" name="dot 43"/>
          <p:cNvSpPr/>
          <p:nvPr/>
        </p:nvSpPr>
        <p:spPr>
          <a:xfrm>
            <a:off x="1389888" y="3465576"/>
            <a:ext cx="329184" cy="329184"/>
          </a:xfrm>
          <a:prstGeom prst="ellipse">
            <a:avLst/>
          </a:prstGeom>
          <a:solidFill>
            <a:srgbClr val="C9CFCC"/>
          </a:solidFill>
          <a:ln/>
        </p:spPr>
      </p:sp>
      <p:sp>
        <p:nvSpPr>
          <p:cNvPr id="48" name="dot 44"/>
          <p:cNvSpPr/>
          <p:nvPr/>
        </p:nvSpPr>
        <p:spPr>
          <a:xfrm>
            <a:off x="1810512" y="3465576"/>
            <a:ext cx="329184" cy="329184"/>
          </a:xfrm>
          <a:prstGeom prst="ellipse">
            <a:avLst/>
          </a:prstGeom>
          <a:solidFill>
            <a:srgbClr val="C9CFCC"/>
          </a:solidFill>
          <a:ln/>
        </p:spPr>
      </p:sp>
      <p:sp>
        <p:nvSpPr>
          <p:cNvPr id="49" name="dot 45"/>
          <p:cNvSpPr/>
          <p:nvPr/>
        </p:nvSpPr>
        <p:spPr>
          <a:xfrm>
            <a:off x="2231136" y="3465576"/>
            <a:ext cx="329184" cy="329184"/>
          </a:xfrm>
          <a:prstGeom prst="ellipse">
            <a:avLst/>
          </a:prstGeom>
          <a:solidFill>
            <a:srgbClr val="C9CFCC"/>
          </a:solidFill>
          <a:ln/>
        </p:spPr>
      </p:sp>
      <p:sp>
        <p:nvSpPr>
          <p:cNvPr id="50" name="dot 46"/>
          <p:cNvSpPr/>
          <p:nvPr/>
        </p:nvSpPr>
        <p:spPr>
          <a:xfrm>
            <a:off x="2651760" y="3465576"/>
            <a:ext cx="329184" cy="329184"/>
          </a:xfrm>
          <a:prstGeom prst="ellipse">
            <a:avLst/>
          </a:prstGeom>
          <a:solidFill>
            <a:srgbClr val="C9CFCC"/>
          </a:solidFill>
          <a:ln/>
        </p:spPr>
      </p:sp>
      <p:sp>
        <p:nvSpPr>
          <p:cNvPr id="51" name="dot 47"/>
          <p:cNvSpPr/>
          <p:nvPr/>
        </p:nvSpPr>
        <p:spPr>
          <a:xfrm>
            <a:off x="3072384" y="3465576"/>
            <a:ext cx="329184" cy="329184"/>
          </a:xfrm>
          <a:prstGeom prst="ellipse">
            <a:avLst/>
          </a:prstGeom>
          <a:solidFill>
            <a:srgbClr val="C9CFCC"/>
          </a:solidFill>
          <a:ln/>
        </p:spPr>
      </p:sp>
      <p:sp>
        <p:nvSpPr>
          <p:cNvPr id="52" name="dot 48"/>
          <p:cNvSpPr/>
          <p:nvPr/>
        </p:nvSpPr>
        <p:spPr>
          <a:xfrm>
            <a:off x="3493008" y="3465576"/>
            <a:ext cx="329184" cy="329184"/>
          </a:xfrm>
          <a:prstGeom prst="ellipse">
            <a:avLst/>
          </a:prstGeom>
          <a:solidFill>
            <a:srgbClr val="C9CFCC"/>
          </a:solidFill>
          <a:ln/>
        </p:spPr>
      </p:sp>
      <p:sp>
        <p:nvSpPr>
          <p:cNvPr id="53" name="dot 49"/>
          <p:cNvSpPr/>
          <p:nvPr/>
        </p:nvSpPr>
        <p:spPr>
          <a:xfrm>
            <a:off x="3913632" y="3465576"/>
            <a:ext cx="329184" cy="329184"/>
          </a:xfrm>
          <a:prstGeom prst="ellipse">
            <a:avLst/>
          </a:prstGeom>
          <a:solidFill>
            <a:srgbClr val="C9CFCC"/>
          </a:solidFill>
          <a:ln/>
        </p:spPr>
      </p:sp>
      <p:sp>
        <p:nvSpPr>
          <p:cNvPr id="54" name="dot 50"/>
          <p:cNvSpPr/>
          <p:nvPr/>
        </p:nvSpPr>
        <p:spPr>
          <a:xfrm>
            <a:off x="4334256" y="3465576"/>
            <a:ext cx="329184" cy="329184"/>
          </a:xfrm>
          <a:prstGeom prst="ellipse">
            <a:avLst/>
          </a:prstGeom>
          <a:solidFill>
            <a:srgbClr val="C9CFCC"/>
          </a:solidFill>
          <a:ln/>
        </p:spPr>
      </p:sp>
      <p:sp>
        <p:nvSpPr>
          <p:cNvPr id="55" name="dot 51"/>
          <p:cNvSpPr/>
          <p:nvPr/>
        </p:nvSpPr>
        <p:spPr>
          <a:xfrm>
            <a:off x="548640" y="3886200"/>
            <a:ext cx="329184" cy="329184"/>
          </a:xfrm>
          <a:prstGeom prst="ellipse">
            <a:avLst/>
          </a:prstGeom>
          <a:solidFill>
            <a:srgbClr val="C9CFCC"/>
          </a:solidFill>
          <a:ln/>
        </p:spPr>
      </p:sp>
      <p:sp>
        <p:nvSpPr>
          <p:cNvPr id="56" name="dot 52"/>
          <p:cNvSpPr/>
          <p:nvPr/>
        </p:nvSpPr>
        <p:spPr>
          <a:xfrm>
            <a:off x="969264" y="3886200"/>
            <a:ext cx="329184" cy="329184"/>
          </a:xfrm>
          <a:prstGeom prst="ellipse">
            <a:avLst/>
          </a:prstGeom>
          <a:solidFill>
            <a:srgbClr val="C9CFCC"/>
          </a:solidFill>
          <a:ln/>
        </p:spPr>
      </p:sp>
      <p:sp>
        <p:nvSpPr>
          <p:cNvPr id="57" name="dot 53"/>
          <p:cNvSpPr/>
          <p:nvPr/>
        </p:nvSpPr>
        <p:spPr>
          <a:xfrm>
            <a:off x="1389888" y="3886200"/>
            <a:ext cx="329184" cy="329184"/>
          </a:xfrm>
          <a:prstGeom prst="ellipse">
            <a:avLst/>
          </a:prstGeom>
          <a:solidFill>
            <a:srgbClr val="C9CFCC"/>
          </a:solidFill>
          <a:ln/>
        </p:spPr>
      </p:sp>
      <p:sp>
        <p:nvSpPr>
          <p:cNvPr id="58" name="dot 54"/>
          <p:cNvSpPr/>
          <p:nvPr/>
        </p:nvSpPr>
        <p:spPr>
          <a:xfrm>
            <a:off x="1810512" y="3886200"/>
            <a:ext cx="329184" cy="329184"/>
          </a:xfrm>
          <a:prstGeom prst="ellipse">
            <a:avLst/>
          </a:prstGeom>
          <a:solidFill>
            <a:srgbClr val="C9CFCC"/>
          </a:solidFill>
          <a:ln/>
        </p:spPr>
      </p:sp>
      <p:sp>
        <p:nvSpPr>
          <p:cNvPr id="59" name="dot 55"/>
          <p:cNvSpPr/>
          <p:nvPr/>
        </p:nvSpPr>
        <p:spPr>
          <a:xfrm>
            <a:off x="2231136" y="3886200"/>
            <a:ext cx="329184" cy="329184"/>
          </a:xfrm>
          <a:prstGeom prst="ellipse">
            <a:avLst/>
          </a:prstGeom>
          <a:solidFill>
            <a:srgbClr val="C9CFCC"/>
          </a:solidFill>
          <a:ln/>
        </p:spPr>
      </p:sp>
      <p:sp>
        <p:nvSpPr>
          <p:cNvPr id="60" name="dot 56"/>
          <p:cNvSpPr/>
          <p:nvPr/>
        </p:nvSpPr>
        <p:spPr>
          <a:xfrm>
            <a:off x="2651760" y="3886200"/>
            <a:ext cx="329184" cy="329184"/>
          </a:xfrm>
          <a:prstGeom prst="ellipse">
            <a:avLst/>
          </a:prstGeom>
          <a:solidFill>
            <a:srgbClr val="C9CFCC"/>
          </a:solidFill>
          <a:ln/>
        </p:spPr>
      </p:sp>
      <p:sp>
        <p:nvSpPr>
          <p:cNvPr id="61" name="dot 57"/>
          <p:cNvSpPr/>
          <p:nvPr/>
        </p:nvSpPr>
        <p:spPr>
          <a:xfrm>
            <a:off x="3072384" y="3886200"/>
            <a:ext cx="329184" cy="329184"/>
          </a:xfrm>
          <a:prstGeom prst="ellipse">
            <a:avLst/>
          </a:prstGeom>
          <a:solidFill>
            <a:srgbClr val="C9CFCC"/>
          </a:solidFill>
          <a:ln/>
        </p:spPr>
      </p:sp>
      <p:sp>
        <p:nvSpPr>
          <p:cNvPr id="62" name="dot 58"/>
          <p:cNvSpPr/>
          <p:nvPr/>
        </p:nvSpPr>
        <p:spPr>
          <a:xfrm>
            <a:off x="3493008" y="3886200"/>
            <a:ext cx="329184" cy="329184"/>
          </a:xfrm>
          <a:prstGeom prst="ellipse">
            <a:avLst/>
          </a:prstGeom>
          <a:solidFill>
            <a:srgbClr val="C9CFCC"/>
          </a:solidFill>
          <a:ln/>
        </p:spPr>
      </p:sp>
      <p:sp>
        <p:nvSpPr>
          <p:cNvPr id="63" name="dot 59"/>
          <p:cNvSpPr/>
          <p:nvPr/>
        </p:nvSpPr>
        <p:spPr>
          <a:xfrm>
            <a:off x="3913632" y="3886200"/>
            <a:ext cx="329184" cy="329184"/>
          </a:xfrm>
          <a:prstGeom prst="ellipse">
            <a:avLst/>
          </a:prstGeom>
          <a:solidFill>
            <a:srgbClr val="C9CFCC"/>
          </a:solidFill>
          <a:ln/>
        </p:spPr>
      </p:sp>
      <p:sp>
        <p:nvSpPr>
          <p:cNvPr id="64" name="dot 60"/>
          <p:cNvSpPr/>
          <p:nvPr/>
        </p:nvSpPr>
        <p:spPr>
          <a:xfrm>
            <a:off x="4334256" y="3886200"/>
            <a:ext cx="329184" cy="329184"/>
          </a:xfrm>
          <a:prstGeom prst="ellipse">
            <a:avLst/>
          </a:prstGeom>
          <a:solidFill>
            <a:srgbClr val="C9CFCC"/>
          </a:solidFill>
          <a:ln/>
        </p:spPr>
      </p:sp>
      <p:sp>
        <p:nvSpPr>
          <p:cNvPr id="65" name="dot 61"/>
          <p:cNvSpPr/>
          <p:nvPr/>
        </p:nvSpPr>
        <p:spPr>
          <a:xfrm>
            <a:off x="548640" y="4306824"/>
            <a:ext cx="329184" cy="329184"/>
          </a:xfrm>
          <a:prstGeom prst="ellipse">
            <a:avLst/>
          </a:prstGeom>
          <a:solidFill>
            <a:srgbClr val="C9CFCC"/>
          </a:solidFill>
          <a:ln/>
        </p:spPr>
      </p:sp>
      <p:sp>
        <p:nvSpPr>
          <p:cNvPr id="66" name="dot 62"/>
          <p:cNvSpPr/>
          <p:nvPr/>
        </p:nvSpPr>
        <p:spPr>
          <a:xfrm>
            <a:off x="969264" y="4306824"/>
            <a:ext cx="329184" cy="329184"/>
          </a:xfrm>
          <a:prstGeom prst="ellipse">
            <a:avLst/>
          </a:prstGeom>
          <a:solidFill>
            <a:srgbClr val="C9CFCC"/>
          </a:solidFill>
          <a:ln/>
        </p:spPr>
      </p:sp>
      <p:sp>
        <p:nvSpPr>
          <p:cNvPr id="67" name="dot 63"/>
          <p:cNvSpPr/>
          <p:nvPr/>
        </p:nvSpPr>
        <p:spPr>
          <a:xfrm>
            <a:off x="1389888" y="4306824"/>
            <a:ext cx="329184" cy="329184"/>
          </a:xfrm>
          <a:prstGeom prst="ellipse">
            <a:avLst/>
          </a:prstGeom>
          <a:solidFill>
            <a:srgbClr val="C9CFCC"/>
          </a:solidFill>
          <a:ln/>
        </p:spPr>
      </p:sp>
      <p:sp>
        <p:nvSpPr>
          <p:cNvPr id="68" name="dot 64"/>
          <p:cNvSpPr/>
          <p:nvPr/>
        </p:nvSpPr>
        <p:spPr>
          <a:xfrm>
            <a:off x="1810512" y="4306824"/>
            <a:ext cx="329184" cy="329184"/>
          </a:xfrm>
          <a:prstGeom prst="ellipse">
            <a:avLst/>
          </a:prstGeom>
          <a:solidFill>
            <a:srgbClr val="C9CFCC"/>
          </a:solidFill>
          <a:ln/>
        </p:spPr>
      </p:sp>
      <p:sp>
        <p:nvSpPr>
          <p:cNvPr id="69" name="dot 65"/>
          <p:cNvSpPr/>
          <p:nvPr/>
        </p:nvSpPr>
        <p:spPr>
          <a:xfrm>
            <a:off x="2231136" y="4306824"/>
            <a:ext cx="329184" cy="329184"/>
          </a:xfrm>
          <a:prstGeom prst="ellipse">
            <a:avLst/>
          </a:prstGeom>
          <a:solidFill>
            <a:srgbClr val="C9CFCC"/>
          </a:solidFill>
          <a:ln/>
        </p:spPr>
      </p:sp>
      <p:sp>
        <p:nvSpPr>
          <p:cNvPr id="70" name="dot 66"/>
          <p:cNvSpPr/>
          <p:nvPr/>
        </p:nvSpPr>
        <p:spPr>
          <a:xfrm>
            <a:off x="2651760" y="4306824"/>
            <a:ext cx="329184" cy="329184"/>
          </a:xfrm>
          <a:prstGeom prst="ellipse">
            <a:avLst/>
          </a:prstGeom>
          <a:solidFill>
            <a:srgbClr val="C9CFCC"/>
          </a:solidFill>
          <a:ln/>
        </p:spPr>
      </p:sp>
      <p:sp>
        <p:nvSpPr>
          <p:cNvPr id="71" name="dot 67"/>
          <p:cNvSpPr/>
          <p:nvPr/>
        </p:nvSpPr>
        <p:spPr>
          <a:xfrm>
            <a:off x="3072384" y="4306824"/>
            <a:ext cx="329184" cy="329184"/>
          </a:xfrm>
          <a:prstGeom prst="ellipse">
            <a:avLst/>
          </a:prstGeom>
          <a:solidFill>
            <a:srgbClr val="C9CFCC"/>
          </a:solidFill>
          <a:ln/>
        </p:spPr>
      </p:sp>
      <p:sp>
        <p:nvSpPr>
          <p:cNvPr id="72" name="dot 68"/>
          <p:cNvSpPr/>
          <p:nvPr/>
        </p:nvSpPr>
        <p:spPr>
          <a:xfrm>
            <a:off x="3493008" y="4306824"/>
            <a:ext cx="329184" cy="329184"/>
          </a:xfrm>
          <a:prstGeom prst="ellipse">
            <a:avLst/>
          </a:prstGeom>
          <a:solidFill>
            <a:srgbClr val="C9CFCC"/>
          </a:solidFill>
          <a:ln/>
        </p:spPr>
      </p:sp>
      <p:sp>
        <p:nvSpPr>
          <p:cNvPr id="73" name="dot 69"/>
          <p:cNvSpPr/>
          <p:nvPr/>
        </p:nvSpPr>
        <p:spPr>
          <a:xfrm>
            <a:off x="3913632" y="4306824"/>
            <a:ext cx="329184" cy="329184"/>
          </a:xfrm>
          <a:prstGeom prst="ellipse">
            <a:avLst/>
          </a:prstGeom>
          <a:solidFill>
            <a:srgbClr val="C9CFCC"/>
          </a:solidFill>
          <a:ln/>
        </p:spPr>
      </p:sp>
      <p:sp>
        <p:nvSpPr>
          <p:cNvPr id="74" name="dot 70"/>
          <p:cNvSpPr/>
          <p:nvPr/>
        </p:nvSpPr>
        <p:spPr>
          <a:xfrm>
            <a:off x="4334256" y="4306824"/>
            <a:ext cx="329184" cy="329184"/>
          </a:xfrm>
          <a:prstGeom prst="ellipse">
            <a:avLst/>
          </a:prstGeom>
          <a:solidFill>
            <a:srgbClr val="C9CFCC"/>
          </a:solidFill>
          <a:ln/>
        </p:spPr>
      </p:sp>
      <p:sp>
        <p:nvSpPr>
          <p:cNvPr id="75" name="dot 71"/>
          <p:cNvSpPr/>
          <p:nvPr/>
        </p:nvSpPr>
        <p:spPr>
          <a:xfrm>
            <a:off x="548640" y="4727448"/>
            <a:ext cx="329184" cy="329184"/>
          </a:xfrm>
          <a:prstGeom prst="ellipse">
            <a:avLst/>
          </a:prstGeom>
          <a:solidFill>
            <a:srgbClr val="C9CFCC"/>
          </a:solidFill>
          <a:ln/>
        </p:spPr>
      </p:sp>
      <p:sp>
        <p:nvSpPr>
          <p:cNvPr id="76" name="dot 72"/>
          <p:cNvSpPr/>
          <p:nvPr/>
        </p:nvSpPr>
        <p:spPr>
          <a:xfrm>
            <a:off x="969264" y="4727448"/>
            <a:ext cx="329184" cy="329184"/>
          </a:xfrm>
          <a:prstGeom prst="ellipse">
            <a:avLst/>
          </a:prstGeom>
          <a:solidFill>
            <a:srgbClr val="C9CFCC"/>
          </a:solidFill>
          <a:ln/>
        </p:spPr>
      </p:sp>
      <p:sp>
        <p:nvSpPr>
          <p:cNvPr id="77" name="dot 73"/>
          <p:cNvSpPr/>
          <p:nvPr/>
        </p:nvSpPr>
        <p:spPr>
          <a:xfrm>
            <a:off x="1389888" y="4727448"/>
            <a:ext cx="329184" cy="329184"/>
          </a:xfrm>
          <a:prstGeom prst="ellipse">
            <a:avLst/>
          </a:prstGeom>
          <a:solidFill>
            <a:srgbClr val="C9CFCC"/>
          </a:solidFill>
          <a:ln/>
        </p:spPr>
      </p:sp>
      <p:sp>
        <p:nvSpPr>
          <p:cNvPr id="78" name="dot 74"/>
          <p:cNvSpPr/>
          <p:nvPr/>
        </p:nvSpPr>
        <p:spPr>
          <a:xfrm>
            <a:off x="1810512" y="4727448"/>
            <a:ext cx="329184" cy="329184"/>
          </a:xfrm>
          <a:prstGeom prst="ellipse">
            <a:avLst/>
          </a:prstGeom>
          <a:solidFill>
            <a:srgbClr val="C9CFCC"/>
          </a:solidFill>
          <a:ln/>
        </p:spPr>
      </p:sp>
      <p:sp>
        <p:nvSpPr>
          <p:cNvPr id="79" name="dot 75"/>
          <p:cNvSpPr/>
          <p:nvPr/>
        </p:nvSpPr>
        <p:spPr>
          <a:xfrm>
            <a:off x="2231136" y="4727448"/>
            <a:ext cx="329184" cy="329184"/>
          </a:xfrm>
          <a:prstGeom prst="ellipse">
            <a:avLst/>
          </a:prstGeom>
          <a:solidFill>
            <a:srgbClr val="C9CFCC"/>
          </a:solidFill>
          <a:ln/>
        </p:spPr>
      </p:sp>
      <p:sp>
        <p:nvSpPr>
          <p:cNvPr id="80" name="dot 76"/>
          <p:cNvSpPr/>
          <p:nvPr/>
        </p:nvSpPr>
        <p:spPr>
          <a:xfrm>
            <a:off x="2651760" y="4727448"/>
            <a:ext cx="329184" cy="329184"/>
          </a:xfrm>
          <a:prstGeom prst="ellipse">
            <a:avLst/>
          </a:prstGeom>
          <a:solidFill>
            <a:srgbClr val="C9CFCC"/>
          </a:solidFill>
          <a:ln/>
        </p:spPr>
      </p:sp>
      <p:sp>
        <p:nvSpPr>
          <p:cNvPr id="81" name="dot 77"/>
          <p:cNvSpPr/>
          <p:nvPr/>
        </p:nvSpPr>
        <p:spPr>
          <a:xfrm>
            <a:off x="3072384" y="4727448"/>
            <a:ext cx="329184" cy="329184"/>
          </a:xfrm>
          <a:prstGeom prst="ellipse">
            <a:avLst/>
          </a:prstGeom>
          <a:solidFill>
            <a:srgbClr val="C9CFCC"/>
          </a:solidFill>
          <a:ln/>
        </p:spPr>
      </p:sp>
      <p:sp>
        <p:nvSpPr>
          <p:cNvPr id="82" name="dot 78"/>
          <p:cNvSpPr/>
          <p:nvPr/>
        </p:nvSpPr>
        <p:spPr>
          <a:xfrm>
            <a:off x="3493008" y="4727448"/>
            <a:ext cx="329184" cy="329184"/>
          </a:xfrm>
          <a:prstGeom prst="ellipse">
            <a:avLst/>
          </a:prstGeom>
          <a:solidFill>
            <a:srgbClr val="C9CFCC"/>
          </a:solidFill>
          <a:ln/>
        </p:spPr>
      </p:sp>
      <p:sp>
        <p:nvSpPr>
          <p:cNvPr id="83" name="dot 79"/>
          <p:cNvSpPr/>
          <p:nvPr/>
        </p:nvSpPr>
        <p:spPr>
          <a:xfrm>
            <a:off x="3913632" y="4727448"/>
            <a:ext cx="329184" cy="329184"/>
          </a:xfrm>
          <a:prstGeom prst="ellipse">
            <a:avLst/>
          </a:prstGeom>
          <a:solidFill>
            <a:srgbClr val="C9CFCC"/>
          </a:solidFill>
          <a:ln/>
        </p:spPr>
      </p:sp>
      <p:sp>
        <p:nvSpPr>
          <p:cNvPr id="84" name="dot 80"/>
          <p:cNvSpPr/>
          <p:nvPr/>
        </p:nvSpPr>
        <p:spPr>
          <a:xfrm>
            <a:off x="4334256" y="4727448"/>
            <a:ext cx="329184" cy="329184"/>
          </a:xfrm>
          <a:prstGeom prst="ellipse">
            <a:avLst/>
          </a:prstGeom>
          <a:solidFill>
            <a:srgbClr val="C9CFCC"/>
          </a:solidFill>
          <a:ln/>
        </p:spPr>
      </p:sp>
      <p:sp>
        <p:nvSpPr>
          <p:cNvPr id="85" name="dot 81"/>
          <p:cNvSpPr/>
          <p:nvPr/>
        </p:nvSpPr>
        <p:spPr>
          <a:xfrm>
            <a:off x="548640" y="5148072"/>
            <a:ext cx="329184" cy="329184"/>
          </a:xfrm>
          <a:prstGeom prst="ellipse">
            <a:avLst/>
          </a:prstGeom>
          <a:solidFill>
            <a:srgbClr val="C9CFCC"/>
          </a:solidFill>
          <a:ln/>
        </p:spPr>
      </p:sp>
      <p:sp>
        <p:nvSpPr>
          <p:cNvPr id="86" name="dot 82"/>
          <p:cNvSpPr/>
          <p:nvPr/>
        </p:nvSpPr>
        <p:spPr>
          <a:xfrm>
            <a:off x="969264" y="5148072"/>
            <a:ext cx="329184" cy="329184"/>
          </a:xfrm>
          <a:prstGeom prst="ellipse">
            <a:avLst/>
          </a:prstGeom>
          <a:solidFill>
            <a:srgbClr val="C9CFCC"/>
          </a:solidFill>
          <a:ln/>
        </p:spPr>
      </p:sp>
      <p:sp>
        <p:nvSpPr>
          <p:cNvPr id="87" name="dot 83"/>
          <p:cNvSpPr/>
          <p:nvPr/>
        </p:nvSpPr>
        <p:spPr>
          <a:xfrm>
            <a:off x="1389888" y="5148072"/>
            <a:ext cx="329184" cy="329184"/>
          </a:xfrm>
          <a:prstGeom prst="ellipse">
            <a:avLst/>
          </a:prstGeom>
          <a:solidFill>
            <a:srgbClr val="C9CFCC"/>
          </a:solidFill>
          <a:ln/>
        </p:spPr>
      </p:sp>
      <p:sp>
        <p:nvSpPr>
          <p:cNvPr id="88" name="dot 84"/>
          <p:cNvSpPr/>
          <p:nvPr/>
        </p:nvSpPr>
        <p:spPr>
          <a:xfrm>
            <a:off x="1810512" y="5148072"/>
            <a:ext cx="329184" cy="329184"/>
          </a:xfrm>
          <a:prstGeom prst="ellipse">
            <a:avLst/>
          </a:prstGeom>
          <a:solidFill>
            <a:srgbClr val="C9CFCC"/>
          </a:solidFill>
          <a:ln/>
        </p:spPr>
      </p:sp>
      <p:sp>
        <p:nvSpPr>
          <p:cNvPr id="89" name="dot 85"/>
          <p:cNvSpPr/>
          <p:nvPr/>
        </p:nvSpPr>
        <p:spPr>
          <a:xfrm>
            <a:off x="2231136" y="5148072"/>
            <a:ext cx="329184" cy="329184"/>
          </a:xfrm>
          <a:prstGeom prst="ellipse">
            <a:avLst/>
          </a:prstGeom>
          <a:solidFill>
            <a:srgbClr val="C9CFCC"/>
          </a:solidFill>
          <a:ln/>
        </p:spPr>
      </p:sp>
      <p:sp>
        <p:nvSpPr>
          <p:cNvPr id="90" name="dot 86"/>
          <p:cNvSpPr/>
          <p:nvPr/>
        </p:nvSpPr>
        <p:spPr>
          <a:xfrm>
            <a:off x="2651760" y="5148072"/>
            <a:ext cx="329184" cy="329184"/>
          </a:xfrm>
          <a:prstGeom prst="ellipse">
            <a:avLst/>
          </a:prstGeom>
          <a:solidFill>
            <a:srgbClr val="C9CFCC"/>
          </a:solidFill>
          <a:ln/>
        </p:spPr>
      </p:sp>
      <p:sp>
        <p:nvSpPr>
          <p:cNvPr id="91" name="dot 87"/>
          <p:cNvSpPr/>
          <p:nvPr/>
        </p:nvSpPr>
        <p:spPr>
          <a:xfrm>
            <a:off x="3072384" y="5148072"/>
            <a:ext cx="329184" cy="329184"/>
          </a:xfrm>
          <a:prstGeom prst="ellipse">
            <a:avLst/>
          </a:prstGeom>
          <a:solidFill>
            <a:srgbClr val="C9CFCC"/>
          </a:solidFill>
          <a:ln/>
        </p:spPr>
      </p:sp>
      <p:sp>
        <p:nvSpPr>
          <p:cNvPr id="92" name="dot 88"/>
          <p:cNvSpPr/>
          <p:nvPr/>
        </p:nvSpPr>
        <p:spPr>
          <a:xfrm>
            <a:off x="3493008" y="5148072"/>
            <a:ext cx="329184" cy="329184"/>
          </a:xfrm>
          <a:prstGeom prst="ellipse">
            <a:avLst/>
          </a:prstGeom>
          <a:solidFill>
            <a:srgbClr val="C9CFCC"/>
          </a:solidFill>
          <a:ln/>
        </p:spPr>
      </p:sp>
      <p:sp>
        <p:nvSpPr>
          <p:cNvPr id="93" name="dot 89"/>
          <p:cNvSpPr/>
          <p:nvPr/>
        </p:nvSpPr>
        <p:spPr>
          <a:xfrm>
            <a:off x="3913632" y="5148072"/>
            <a:ext cx="329184" cy="329184"/>
          </a:xfrm>
          <a:prstGeom prst="ellipse">
            <a:avLst/>
          </a:prstGeom>
          <a:solidFill>
            <a:srgbClr val="C9CFCC"/>
          </a:solidFill>
          <a:ln/>
        </p:spPr>
      </p:sp>
      <p:sp>
        <p:nvSpPr>
          <p:cNvPr id="94" name="dot 90"/>
          <p:cNvSpPr/>
          <p:nvPr/>
        </p:nvSpPr>
        <p:spPr>
          <a:xfrm>
            <a:off x="4334256" y="5148072"/>
            <a:ext cx="329184" cy="329184"/>
          </a:xfrm>
          <a:prstGeom prst="ellipse">
            <a:avLst/>
          </a:prstGeom>
          <a:solidFill>
            <a:srgbClr val="C9CFCC"/>
          </a:solidFill>
          <a:ln/>
        </p:spPr>
      </p:sp>
      <p:sp>
        <p:nvSpPr>
          <p:cNvPr id="95" name="dot 91"/>
          <p:cNvSpPr/>
          <p:nvPr/>
        </p:nvSpPr>
        <p:spPr>
          <a:xfrm>
            <a:off x="548640" y="5568696"/>
            <a:ext cx="329184" cy="329184"/>
          </a:xfrm>
          <a:prstGeom prst="ellipse">
            <a:avLst/>
          </a:prstGeom>
          <a:solidFill>
            <a:srgbClr val="C9CFCC"/>
          </a:solidFill>
          <a:ln/>
        </p:spPr>
      </p:sp>
      <p:sp>
        <p:nvSpPr>
          <p:cNvPr id="96" name="dot 92"/>
          <p:cNvSpPr/>
          <p:nvPr/>
        </p:nvSpPr>
        <p:spPr>
          <a:xfrm>
            <a:off x="969264" y="5568696"/>
            <a:ext cx="329184" cy="329184"/>
          </a:xfrm>
          <a:prstGeom prst="ellipse">
            <a:avLst/>
          </a:prstGeom>
          <a:solidFill>
            <a:srgbClr val="C9CFCC"/>
          </a:solidFill>
          <a:ln/>
        </p:spPr>
      </p:sp>
      <p:sp>
        <p:nvSpPr>
          <p:cNvPr id="97" name="dot 93"/>
          <p:cNvSpPr/>
          <p:nvPr/>
        </p:nvSpPr>
        <p:spPr>
          <a:xfrm>
            <a:off x="1389888" y="5568696"/>
            <a:ext cx="329184" cy="329184"/>
          </a:xfrm>
          <a:prstGeom prst="ellipse">
            <a:avLst/>
          </a:prstGeom>
          <a:solidFill>
            <a:srgbClr val="C9CFCC"/>
          </a:solidFill>
          <a:ln/>
        </p:spPr>
      </p:sp>
      <p:sp>
        <p:nvSpPr>
          <p:cNvPr id="98" name="dot 94"/>
          <p:cNvSpPr/>
          <p:nvPr/>
        </p:nvSpPr>
        <p:spPr>
          <a:xfrm>
            <a:off x="1810512" y="5568696"/>
            <a:ext cx="329184" cy="329184"/>
          </a:xfrm>
          <a:prstGeom prst="ellipse">
            <a:avLst/>
          </a:prstGeom>
          <a:solidFill>
            <a:srgbClr val="C9CFCC"/>
          </a:solidFill>
          <a:ln/>
        </p:spPr>
      </p:sp>
      <p:sp>
        <p:nvSpPr>
          <p:cNvPr id="99" name="dot 95"/>
          <p:cNvSpPr/>
          <p:nvPr/>
        </p:nvSpPr>
        <p:spPr>
          <a:xfrm>
            <a:off x="2231136" y="5568696"/>
            <a:ext cx="329184" cy="329184"/>
          </a:xfrm>
          <a:prstGeom prst="ellipse">
            <a:avLst/>
          </a:prstGeom>
          <a:solidFill>
            <a:srgbClr val="C9CFCC"/>
          </a:solidFill>
          <a:ln/>
        </p:spPr>
      </p:sp>
      <p:sp>
        <p:nvSpPr>
          <p:cNvPr id="100" name="dot 96"/>
          <p:cNvSpPr/>
          <p:nvPr/>
        </p:nvSpPr>
        <p:spPr>
          <a:xfrm>
            <a:off x="2651760" y="5568696"/>
            <a:ext cx="329184" cy="329184"/>
          </a:xfrm>
          <a:prstGeom prst="ellipse">
            <a:avLst/>
          </a:prstGeom>
          <a:solidFill>
            <a:srgbClr val="C9CFCC"/>
          </a:solidFill>
          <a:ln/>
        </p:spPr>
      </p:sp>
      <p:sp>
        <p:nvSpPr>
          <p:cNvPr id="101" name="dot 97"/>
          <p:cNvSpPr/>
          <p:nvPr/>
        </p:nvSpPr>
        <p:spPr>
          <a:xfrm>
            <a:off x="3072384" y="5568696"/>
            <a:ext cx="329184" cy="329184"/>
          </a:xfrm>
          <a:prstGeom prst="ellipse">
            <a:avLst/>
          </a:prstGeom>
          <a:solidFill>
            <a:srgbClr val="C9CFCC"/>
          </a:solidFill>
          <a:ln/>
        </p:spPr>
      </p:sp>
      <p:sp>
        <p:nvSpPr>
          <p:cNvPr id="102" name="dot 98"/>
          <p:cNvSpPr/>
          <p:nvPr/>
        </p:nvSpPr>
        <p:spPr>
          <a:xfrm>
            <a:off x="3493008" y="5568696"/>
            <a:ext cx="329184" cy="329184"/>
          </a:xfrm>
          <a:prstGeom prst="ellipse">
            <a:avLst/>
          </a:prstGeom>
          <a:solidFill>
            <a:srgbClr val="C9CFCC"/>
          </a:solidFill>
          <a:ln/>
        </p:spPr>
      </p:sp>
      <p:sp>
        <p:nvSpPr>
          <p:cNvPr id="103" name="dot 99"/>
          <p:cNvSpPr/>
          <p:nvPr/>
        </p:nvSpPr>
        <p:spPr>
          <a:xfrm>
            <a:off x="3913632" y="5568696"/>
            <a:ext cx="329184" cy="329184"/>
          </a:xfrm>
          <a:prstGeom prst="ellipse">
            <a:avLst/>
          </a:prstGeom>
          <a:solidFill>
            <a:srgbClr val="C9CFCC"/>
          </a:solidFill>
          <a:ln/>
        </p:spPr>
      </p:sp>
      <p:sp>
        <p:nvSpPr>
          <p:cNvPr id="104" name="dot 100"/>
          <p:cNvSpPr/>
          <p:nvPr/>
        </p:nvSpPr>
        <p:spPr>
          <a:xfrm>
            <a:off x="4334256" y="5568696"/>
            <a:ext cx="329184" cy="329184"/>
          </a:xfrm>
          <a:prstGeom prst="ellipse">
            <a:avLst/>
          </a:prstGeom>
          <a:solidFill>
            <a:srgbClr val="C9CFCC"/>
          </a:solidFill>
          <a:ln/>
        </p:spPr>
      </p:sp>
      <p:sp>
        <p:nvSpPr>
          <p:cNvPr id="105" name="bracket"/>
          <p:cNvSpPr/>
          <p:nvPr/>
        </p:nvSpPr>
        <p:spPr>
          <a:xfrm>
            <a:off x="548640" y="6080760"/>
            <a:ext cx="4114800" cy="0"/>
          </a:xfrm>
          <a:prstGeom prst="line">
            <a:avLst/>
          </a:prstGeom>
          <a:noFill/>
          <a:ln w="12700">
            <a:solidFill>
              <a:srgbClr val="C3C9C6"/>
            </a:solidFill>
            <a:prstDash val="solid"/>
          </a:ln>
        </p:spPr>
      </p:sp>
      <p:sp>
        <p:nvSpPr>
          <p:cNvPr id="106" name="bracket left"/>
          <p:cNvSpPr/>
          <p:nvPr/>
        </p:nvSpPr>
        <p:spPr>
          <a:xfrm>
            <a:off x="548640" y="6007608"/>
            <a:ext cx="0" cy="73152"/>
          </a:xfrm>
          <a:prstGeom prst="line">
            <a:avLst/>
          </a:prstGeom>
          <a:noFill/>
          <a:ln w="12700">
            <a:solidFill>
              <a:srgbClr val="C3C9C6"/>
            </a:solidFill>
            <a:prstDash val="solid"/>
          </a:ln>
        </p:spPr>
      </p:sp>
      <p:sp>
        <p:nvSpPr>
          <p:cNvPr id="107" name="bracket right"/>
          <p:cNvSpPr/>
          <p:nvPr/>
        </p:nvSpPr>
        <p:spPr>
          <a:xfrm>
            <a:off x="4663440" y="6007608"/>
            <a:ext cx="0" cy="73152"/>
          </a:xfrm>
          <a:prstGeom prst="line">
            <a:avLst/>
          </a:prstGeom>
          <a:noFill/>
          <a:ln w="12700">
            <a:solidFill>
              <a:srgbClr val="C3C9C6"/>
            </a:solidFill>
            <a:prstDash val="solid"/>
          </a:ln>
        </p:spPr>
      </p:sp>
      <p:sp>
        <p:nvSpPr>
          <p:cNvPr id="108" name="Text 105"/>
          <p:cNvSpPr txBox="1"/>
          <p:nvPr/>
        </p:nvSpPr>
        <p:spPr>
          <a:xfrm>
            <a:off x="2240280" y="6117336"/>
            <a:ext cx="731520" cy="228600"/>
          </a:xfrm>
          <a:prstGeom prst="rect">
            <a:avLst/>
          </a:prstGeom>
          <a:noFill/>
          <a:ln/>
        </p:spPr>
        <p:txBody>
          <a:bodyPr wrap="square" lIns="0" tIns="0" rIns="0" bIns="0" rtlCol="0" anchor="t"/>
          <a:lstStyle/>
          <a:p>
            <a:pPr algn="ctr" indent="0" marL="0">
              <a:buNone/>
            </a:pPr>
            <a:r>
              <a:rPr lang="en-US" sz="900" b="1" dirty="0">
                <a:solidFill>
                  <a:srgbClr val="9AA5A0"/>
                </a:solidFill>
              </a:rPr>
              <a:t>100</a:t>
            </a:r>
            <a:endParaRPr lang="en-US" sz="900" dirty="0"/>
          </a:p>
        </p:txBody>
      </p:sp>
      <p:sp>
        <p:nvSpPr>
          <p:cNvPr id="109" name="Text 106"/>
          <p:cNvSpPr txBox="1"/>
          <p:nvPr/>
        </p:nvSpPr>
        <p:spPr>
          <a:xfrm>
            <a:off x="5760720" y="2103120"/>
            <a:ext cx="6035040" cy="1280160"/>
          </a:xfrm>
          <a:prstGeom prst="rect">
            <a:avLst/>
          </a:prstGeom>
          <a:noFill/>
          <a:ln/>
        </p:spPr>
        <p:txBody>
          <a:bodyPr wrap="square" lIns="0" tIns="0" rIns="0" bIns="0" rtlCol="0" anchor="ctr"/>
          <a:lstStyle/>
          <a:p>
            <a:pPr indent="0" marL="0">
              <a:buNone/>
            </a:pPr>
            <a:r>
              <a:rPr lang="en-US" sz="7200" b="1" dirty="0">
                <a:solidFill>
                  <a:schemeClr val="accent6"/>
                </a:solidFill>
                <a:latin typeface="Calibri" pitchFamily="34" charset="0"/>
                <a:ea typeface="Calibri" pitchFamily="34" charset="-122"/>
                <a:cs typeface="Calibri" pitchFamily="34" charset="-120"/>
              </a:rPr>
              <a:t>36  </a:t>
            </a:r>
            <a:pPr indent="0" marL="0">
              <a:buNone/>
            </a:pPr>
            <a:r>
              <a:rPr lang="en-US" sz="3600" b="1" dirty="0">
                <a:solidFill>
                  <a:schemeClr val="tx1"/>
                </a:solidFill>
                <a:latin typeface="Calibri" pitchFamily="34" charset="0"/>
                <a:ea typeface="Calibri" pitchFamily="34" charset="-122"/>
                <a:cs typeface="Calibri" pitchFamily="34" charset="-120"/>
              </a:rPr>
              <a:t>got funded</a:t>
            </a:r>
            <a:endParaRPr lang="en-US" sz="1600" dirty="0"/>
          </a:p>
        </p:txBody>
      </p:sp>
      <p:sp>
        <p:nvSpPr>
          <p:cNvPr id="110" name="Text 107"/>
          <p:cNvSpPr txBox="1"/>
          <p:nvPr/>
        </p:nvSpPr>
        <p:spPr>
          <a:xfrm>
            <a:off x="5760720" y="3566160"/>
            <a:ext cx="6035040" cy="1280160"/>
          </a:xfrm>
          <a:prstGeom prst="rect">
            <a:avLst/>
          </a:prstGeom>
          <a:noFill/>
          <a:ln/>
        </p:spPr>
        <p:txBody>
          <a:bodyPr wrap="square" lIns="0" tIns="0" rIns="0" bIns="0" rtlCol="0" anchor="ctr"/>
          <a:lstStyle/>
          <a:p>
            <a:pPr indent="0" marL="0">
              <a:buNone/>
            </a:pPr>
            <a:r>
              <a:rPr lang="en-US" sz="7200" b="1" dirty="0">
                <a:solidFill>
                  <a:srgbClr val="A9B1AD"/>
                </a:solidFill>
                <a:latin typeface="Calibri" pitchFamily="34" charset="0"/>
                <a:ea typeface="Calibri" pitchFamily="34" charset="-122"/>
                <a:cs typeface="Calibri" pitchFamily="34" charset="-120"/>
              </a:rPr>
              <a:t>64  </a:t>
            </a:r>
            <a:pPr indent="0" marL="0">
              <a:buNone/>
            </a:pPr>
            <a:r>
              <a:rPr lang="en-US" sz="3600" b="1" dirty="0">
                <a:solidFill>
                  <a:schemeClr val="accent4"/>
                </a:solidFill>
                <a:latin typeface="Calibri" pitchFamily="34" charset="0"/>
                <a:ea typeface="Calibri" pitchFamily="34" charset="-122"/>
                <a:cs typeface="Calibri" pitchFamily="34" charset="-120"/>
              </a:rPr>
              <a:t>not funded</a:t>
            </a:r>
            <a:endParaRPr lang="en-US" sz="1600" dirty="0"/>
          </a:p>
        </p:txBody>
      </p:sp>
      <p:sp>
        <p:nvSpPr>
          <p:cNvPr id="111"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FINDING 1 · THE GOAL</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Smaller goals get funded far more often</a:t>
            </a:r>
            <a:endParaRPr lang="en-US" sz="3400" dirty="0"/>
          </a:p>
        </p:txBody>
      </p:sp>
      <p:graphicFrame>
        <p:nvGraphicFramePr>
          <p:cNvPr id="5" name="Share funded by funding goal" descr=""/>
          <p:cNvGraphicFramePr/>
          <p:nvPr/>
        </p:nvGraphicFramePr>
        <p:xfrm>
          <a:off x="548640" y="1600200"/>
          <a:ext cx="7040880" cy="4572000"/>
        </p:xfrm>
        <a:graphic xmlns:a="http://schemas.openxmlformats.org/drawingml/2006/main">
          <a:graphicData uri="http://schemas.openxmlformats.org/drawingml/2006/chart">
            <c:chart xmlns:c="http://schemas.openxmlformats.org/drawingml/2006/chart" r:id="rId1"/>
          </a:graphicData>
        </a:graphic>
      </p:graphicFrame>
      <p:sp>
        <p:nvSpPr>
          <p:cNvPr id="6" name="goal box"/>
          <p:cNvSpPr/>
          <p:nvPr/>
        </p:nvSpPr>
        <p:spPr>
          <a:xfrm>
            <a:off x="8001000" y="1828800"/>
            <a:ext cx="3639312" cy="4114800"/>
          </a:xfrm>
          <a:prstGeom prst="roundRect">
            <a:avLst>
              <a:gd name="adj" fmla="val 3015"/>
            </a:avLst>
          </a:prstGeom>
          <a:solidFill>
            <a:schemeClr val="bg2"/>
          </a:solidFill>
          <a:ln w="12700">
            <a:solidFill>
              <a:srgbClr val="F5F7F6"/>
            </a:solidFill>
            <a:prstDash val="solid"/>
          </a:ln>
        </p:spPr>
      </p:sp>
      <p:sp>
        <p:nvSpPr>
          <p:cNvPr id="7" name="Text 3"/>
          <p:cNvSpPr txBox="1"/>
          <p:nvPr/>
        </p:nvSpPr>
        <p:spPr>
          <a:xfrm>
            <a:off x="8321040" y="2057400"/>
            <a:ext cx="3108960" cy="868680"/>
          </a:xfrm>
          <a:prstGeom prst="rect">
            <a:avLst/>
          </a:prstGeom>
          <a:noFill/>
          <a:ln/>
        </p:spPr>
        <p:txBody>
          <a:bodyPr wrap="square" lIns="0" tIns="0" rIns="0" bIns="0" rtlCol="0" anchor="t"/>
          <a:lstStyle/>
          <a:p>
            <a:pPr indent="0" marL="0">
              <a:buNone/>
            </a:pPr>
            <a:r>
              <a:rPr lang="en-US" sz="5400" b="1" dirty="0">
                <a:solidFill>
                  <a:schemeClr val="accent6"/>
                </a:solidFill>
                <a:latin typeface="Calibri" pitchFamily="34" charset="0"/>
                <a:ea typeface="Calibri" pitchFamily="34" charset="-122"/>
                <a:cs typeface="Calibri" pitchFamily="34" charset="-120"/>
              </a:rPr>
              <a:t>49%</a:t>
            </a:r>
            <a:endParaRPr lang="en-US" sz="5400" dirty="0"/>
          </a:p>
        </p:txBody>
      </p:sp>
      <p:sp>
        <p:nvSpPr>
          <p:cNvPr id="8" name="Text 4"/>
          <p:cNvSpPr txBox="1"/>
          <p:nvPr/>
        </p:nvSpPr>
        <p:spPr>
          <a:xfrm>
            <a:off x="8321040" y="2926080"/>
            <a:ext cx="3108960" cy="457200"/>
          </a:xfrm>
          <a:prstGeom prst="rect">
            <a:avLst/>
          </a:prstGeom>
          <a:noFill/>
          <a:ln/>
        </p:spPr>
        <p:txBody>
          <a:bodyPr wrap="square" lIns="0" tIns="0" rIns="0" bIns="0" rtlCol="0" anchor="t"/>
          <a:lstStyle/>
          <a:p>
            <a:pPr indent="0" marL="0">
              <a:buNone/>
            </a:pPr>
            <a:r>
              <a:rPr lang="en-US" sz="1600" dirty="0">
                <a:solidFill>
                  <a:schemeClr val="accent4"/>
                </a:solidFill>
              </a:rPr>
              <a:t>funded · goal up to $1k</a:t>
            </a:r>
            <a:endParaRPr lang="en-US" sz="1600" dirty="0"/>
          </a:p>
        </p:txBody>
      </p:sp>
      <p:sp>
        <p:nvSpPr>
          <p:cNvPr id="9" name="Text 5"/>
          <p:cNvSpPr txBox="1"/>
          <p:nvPr/>
        </p:nvSpPr>
        <p:spPr>
          <a:xfrm>
            <a:off x="8321040" y="3566160"/>
            <a:ext cx="3108960" cy="868680"/>
          </a:xfrm>
          <a:prstGeom prst="rect">
            <a:avLst/>
          </a:prstGeom>
          <a:noFill/>
          <a:ln/>
        </p:spPr>
        <p:txBody>
          <a:bodyPr wrap="square" lIns="0" tIns="0" rIns="0" bIns="0" rtlCol="0" anchor="t"/>
          <a:lstStyle/>
          <a:p>
            <a:pPr indent="0" marL="0">
              <a:buNone/>
            </a:pPr>
            <a:r>
              <a:rPr lang="en-US" sz="5400" b="1" dirty="0">
                <a:solidFill>
                  <a:schemeClr val="accent2"/>
                </a:solidFill>
                <a:latin typeface="Calibri" pitchFamily="34" charset="0"/>
                <a:ea typeface="Calibri" pitchFamily="34" charset="-122"/>
                <a:cs typeface="Calibri" pitchFamily="34" charset="-120"/>
              </a:rPr>
              <a:t>6%</a:t>
            </a:r>
            <a:endParaRPr lang="en-US" sz="5400" dirty="0"/>
          </a:p>
        </p:txBody>
      </p:sp>
      <p:sp>
        <p:nvSpPr>
          <p:cNvPr id="10" name="Text 6"/>
          <p:cNvSpPr txBox="1"/>
          <p:nvPr/>
        </p:nvSpPr>
        <p:spPr>
          <a:xfrm>
            <a:off x="8321040" y="4434840"/>
            <a:ext cx="3108960" cy="457200"/>
          </a:xfrm>
          <a:prstGeom prst="rect">
            <a:avLst/>
          </a:prstGeom>
          <a:noFill/>
          <a:ln/>
        </p:spPr>
        <p:txBody>
          <a:bodyPr wrap="square" lIns="0" tIns="0" rIns="0" bIns="0" rtlCol="0" anchor="t"/>
          <a:lstStyle/>
          <a:p>
            <a:pPr indent="0" marL="0">
              <a:buNone/>
            </a:pPr>
            <a:r>
              <a:rPr lang="en-US" sz="1600" dirty="0">
                <a:solidFill>
                  <a:schemeClr val="accent4"/>
                </a:solidFill>
              </a:rPr>
              <a:t>funded · goal over $100k</a:t>
            </a:r>
            <a:endParaRPr lang="en-US" sz="1600" dirty="0"/>
          </a:p>
        </p:txBody>
      </p:sp>
      <p:sp>
        <p:nvSpPr>
          <p:cNvPr id="11"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FINDING 2 · THE CATEGORY</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Arts beat tech: Dance 62%, Technology 20%</a:t>
            </a:r>
            <a:endParaRPr lang="en-US" sz="3400" dirty="0"/>
          </a:p>
        </p:txBody>
      </p:sp>
      <p:graphicFrame>
        <p:nvGraphicFramePr>
          <p:cNvPr id="5" name="Share funded by main category" descr=""/>
          <p:cNvGraphicFramePr/>
          <p:nvPr/>
        </p:nvGraphicFramePr>
        <p:xfrm>
          <a:off x="548640" y="1554480"/>
          <a:ext cx="7315200" cy="4709160"/>
        </p:xfrm>
        <a:graphic xmlns:a="http://schemas.openxmlformats.org/drawingml/2006/main">
          <a:graphicData uri="http://schemas.openxmlformats.org/drawingml/2006/chart">
            <c:chart xmlns:c="http://schemas.openxmlformats.org/drawingml/2006/chart" r:id="rId1"/>
          </a:graphicData>
        </a:graphic>
      </p:graphicFrame>
      <p:sp>
        <p:nvSpPr>
          <p:cNvPr id="6" name="why tech struggles box"/>
          <p:cNvSpPr/>
          <p:nvPr/>
        </p:nvSpPr>
        <p:spPr>
          <a:xfrm>
            <a:off x="8183880" y="1920240"/>
            <a:ext cx="3456432" cy="2377440"/>
          </a:xfrm>
          <a:prstGeom prst="roundRect">
            <a:avLst>
              <a:gd name="adj" fmla="val 4615"/>
            </a:avLst>
          </a:prstGeom>
          <a:solidFill>
            <a:schemeClr val="bg2"/>
          </a:solidFill>
          <a:ln w="12700">
            <a:solidFill>
              <a:srgbClr val="F5F7F6"/>
            </a:solidFill>
            <a:prstDash val="solid"/>
          </a:ln>
        </p:spPr>
      </p:sp>
      <p:sp>
        <p:nvSpPr>
          <p:cNvPr id="7" name="Text 3"/>
          <p:cNvSpPr txBox="1"/>
          <p:nvPr/>
        </p:nvSpPr>
        <p:spPr>
          <a:xfrm>
            <a:off x="8503920" y="2286000"/>
            <a:ext cx="2834640" cy="457200"/>
          </a:xfrm>
          <a:prstGeom prst="rect">
            <a:avLst/>
          </a:prstGeom>
          <a:noFill/>
          <a:ln/>
        </p:spPr>
        <p:txBody>
          <a:bodyPr wrap="square" lIns="0" tIns="0" rIns="0" bIns="0" rtlCol="0" anchor="t"/>
          <a:lstStyle/>
          <a:p>
            <a:pPr indent="0" marL="0">
              <a:buNone/>
            </a:pPr>
            <a:r>
              <a:rPr lang="en-US" sz="2000" b="1" dirty="0">
                <a:solidFill>
                  <a:schemeClr val="accent4"/>
                </a:solidFill>
              </a:rPr>
              <a:t>Why tech struggles</a:t>
            </a:r>
            <a:endParaRPr lang="en-US" sz="2000" dirty="0"/>
          </a:p>
        </p:txBody>
      </p:sp>
      <p:sp>
        <p:nvSpPr>
          <p:cNvPr id="8" name="Text 4"/>
          <p:cNvSpPr txBox="1"/>
          <p:nvPr/>
        </p:nvSpPr>
        <p:spPr>
          <a:xfrm>
            <a:off x="8503920" y="2834640"/>
            <a:ext cx="2926080" cy="1097280"/>
          </a:xfrm>
          <a:prstGeom prst="rect">
            <a:avLst/>
          </a:prstGeom>
          <a:noFill/>
          <a:ln/>
        </p:spPr>
        <p:txBody>
          <a:bodyPr wrap="square" lIns="0" tIns="0" rIns="0" bIns="0" rtlCol="0" anchor="t"/>
          <a:lstStyle/>
          <a:p>
            <a:pPr indent="0" marL="0">
              <a:buNone/>
            </a:pPr>
            <a:r>
              <a:rPr lang="en-US" sz="3400" b="1" dirty="0">
                <a:solidFill>
                  <a:schemeClr val="tx1"/>
                </a:solidFill>
                <a:latin typeface="Calibri" pitchFamily="34" charset="0"/>
                <a:ea typeface="Calibri" pitchFamily="34" charset="-122"/>
                <a:cs typeface="Calibri" pitchFamily="34" charset="-120"/>
              </a:rPr>
              <a:t>Goals too high.</a:t>
            </a:r>
            <a:endParaRPr lang="en-US" sz="3400" dirty="0"/>
          </a:p>
        </p:txBody>
      </p:sp>
      <p:sp>
        <p:nvSpPr>
          <p:cNvPr id="9"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FINDING 3 · THE LENGTH</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The 30-day default and 60 days do worst</a:t>
            </a:r>
            <a:endParaRPr lang="en-US" sz="3400" dirty="0"/>
          </a:p>
        </p:txBody>
      </p:sp>
      <p:sp>
        <p:nvSpPr>
          <p:cNvPr id="5" name="30 days · the default card"/>
          <p:cNvSpPr/>
          <p:nvPr/>
        </p:nvSpPr>
        <p:spPr>
          <a:xfrm>
            <a:off x="548640" y="1600200"/>
            <a:ext cx="5364328" cy="3886200"/>
          </a:xfrm>
          <a:prstGeom prst="roundRect">
            <a:avLst>
              <a:gd name="adj" fmla="val 2824"/>
            </a:avLst>
          </a:prstGeom>
          <a:solidFill>
            <a:schemeClr val="bg1"/>
          </a:solidFill>
          <a:ln w="12700">
            <a:solidFill>
              <a:srgbClr val="F5F7F6"/>
            </a:solidFill>
            <a:prstDash val="solid"/>
          </a:ln>
        </p:spPr>
      </p:sp>
      <p:sp>
        <p:nvSpPr>
          <p:cNvPr id="6" name="Text 3"/>
          <p:cNvSpPr txBox="1"/>
          <p:nvPr/>
        </p:nvSpPr>
        <p:spPr>
          <a:xfrm>
            <a:off x="822960" y="1783080"/>
            <a:ext cx="4815688" cy="411480"/>
          </a:xfrm>
          <a:prstGeom prst="rect">
            <a:avLst/>
          </a:prstGeom>
          <a:noFill/>
          <a:ln/>
        </p:spPr>
        <p:txBody>
          <a:bodyPr wrap="square" lIns="0" tIns="0" rIns="0" bIns="0" rtlCol="0" anchor="t"/>
          <a:lstStyle/>
          <a:p>
            <a:pPr indent="0" marL="0">
              <a:buNone/>
            </a:pPr>
            <a:r>
              <a:rPr lang="en-US" sz="2000" b="1" dirty="0">
                <a:solidFill>
                  <a:schemeClr val="tx1"/>
                </a:solidFill>
              </a:rPr>
              <a:t>30 days · the default</a:t>
            </a:r>
            <a:endParaRPr lang="en-US" sz="2000" dirty="0"/>
          </a:p>
        </p:txBody>
      </p:sp>
      <p:sp>
        <p:nvSpPr>
          <p:cNvPr id="7" name="Text 4"/>
          <p:cNvSpPr txBox="1"/>
          <p:nvPr/>
        </p:nvSpPr>
        <p:spPr>
          <a:xfrm>
            <a:off x="822960" y="1810512"/>
            <a:ext cx="4815688" cy="411480"/>
          </a:xfrm>
          <a:prstGeom prst="rect">
            <a:avLst/>
          </a:prstGeom>
          <a:noFill/>
          <a:ln/>
        </p:spPr>
        <p:txBody>
          <a:bodyPr wrap="square" lIns="0" tIns="0" rIns="0" bIns="0" rtlCol="0" anchor="t"/>
          <a:lstStyle/>
          <a:p>
            <a:pPr algn="r" indent="0" marL="0">
              <a:buNone/>
            </a:pPr>
            <a:r>
              <a:rPr lang="en-US" sz="1300" dirty="0">
                <a:solidFill>
                  <a:schemeClr val="accent4"/>
                </a:solidFill>
              </a:rPr>
              <a:t>45% of all campaigns</a:t>
            </a:r>
            <a:endParaRPr lang="en-US" sz="1300" dirty="0"/>
          </a:p>
        </p:txBody>
      </p:sp>
      <p:graphicFrame>
        <p:nvGraphicFramePr>
          <p:cNvPr id="8" name="Share funded around 30 days" descr=""/>
          <p:cNvGraphicFramePr/>
          <p:nvPr/>
        </p:nvGraphicFramePr>
        <p:xfrm>
          <a:off x="822960" y="2286000"/>
          <a:ext cx="4815688" cy="3063240"/>
        </p:xfrm>
        <a:graphic xmlns:a="http://schemas.openxmlformats.org/drawingml/2006/main">
          <a:graphicData uri="http://schemas.openxmlformats.org/drawingml/2006/chart">
            <c:chart xmlns:c="http://schemas.openxmlformats.org/drawingml/2006/chart" r:id="rId1"/>
          </a:graphicData>
        </a:graphic>
      </p:graphicFrame>
      <p:sp>
        <p:nvSpPr>
          <p:cNvPr id="9" name="60 days · the maximum card"/>
          <p:cNvSpPr/>
          <p:nvPr/>
        </p:nvSpPr>
        <p:spPr>
          <a:xfrm>
            <a:off x="6278728" y="1600200"/>
            <a:ext cx="5364328" cy="3886200"/>
          </a:xfrm>
          <a:prstGeom prst="roundRect">
            <a:avLst>
              <a:gd name="adj" fmla="val 2824"/>
            </a:avLst>
          </a:prstGeom>
          <a:solidFill>
            <a:schemeClr val="bg1"/>
          </a:solidFill>
          <a:ln w="12700">
            <a:solidFill>
              <a:srgbClr val="F5F7F6"/>
            </a:solidFill>
            <a:prstDash val="solid"/>
          </a:ln>
        </p:spPr>
      </p:sp>
      <p:sp>
        <p:nvSpPr>
          <p:cNvPr id="10" name="Text 6"/>
          <p:cNvSpPr txBox="1"/>
          <p:nvPr/>
        </p:nvSpPr>
        <p:spPr>
          <a:xfrm>
            <a:off x="6553048" y="1783080"/>
            <a:ext cx="4815688" cy="411480"/>
          </a:xfrm>
          <a:prstGeom prst="rect">
            <a:avLst/>
          </a:prstGeom>
          <a:noFill/>
          <a:ln/>
        </p:spPr>
        <p:txBody>
          <a:bodyPr wrap="square" lIns="0" tIns="0" rIns="0" bIns="0" rtlCol="0" anchor="t"/>
          <a:lstStyle/>
          <a:p>
            <a:pPr indent="0" marL="0">
              <a:buNone/>
            </a:pPr>
            <a:r>
              <a:rPr lang="en-US" sz="2000" b="1" dirty="0">
                <a:solidFill>
                  <a:schemeClr val="tx1"/>
                </a:solidFill>
              </a:rPr>
              <a:t>60 days · the maximum</a:t>
            </a:r>
            <a:endParaRPr lang="en-US" sz="2000" dirty="0"/>
          </a:p>
        </p:txBody>
      </p:sp>
      <p:sp>
        <p:nvSpPr>
          <p:cNvPr id="11" name="Text 7"/>
          <p:cNvSpPr txBox="1"/>
          <p:nvPr/>
        </p:nvSpPr>
        <p:spPr>
          <a:xfrm>
            <a:off x="6553048" y="1810512"/>
            <a:ext cx="4815688" cy="411480"/>
          </a:xfrm>
          <a:prstGeom prst="rect">
            <a:avLst/>
          </a:prstGeom>
          <a:noFill/>
          <a:ln/>
        </p:spPr>
        <p:txBody>
          <a:bodyPr wrap="square" lIns="0" tIns="0" rIns="0" bIns="0" rtlCol="0" anchor="t"/>
          <a:lstStyle/>
          <a:p>
            <a:pPr algn="r" indent="0" marL="0">
              <a:buNone/>
            </a:pPr>
            <a:r>
              <a:rPr lang="en-US" sz="1300" dirty="0">
                <a:solidFill>
                  <a:schemeClr val="accent4"/>
                </a:solidFill>
              </a:rPr>
              <a:t>9% of all campaigns</a:t>
            </a:r>
            <a:endParaRPr lang="en-US" sz="1300" dirty="0"/>
          </a:p>
        </p:txBody>
      </p:sp>
      <p:graphicFrame>
        <p:nvGraphicFramePr>
          <p:cNvPr id="12" name="Share funded around 60 days" descr=""/>
          <p:cNvGraphicFramePr/>
          <p:nvPr/>
        </p:nvGraphicFramePr>
        <p:xfrm>
          <a:off x="6553048" y="2286000"/>
          <a:ext cx="4815688" cy="3063240"/>
        </p:xfrm>
        <a:graphic xmlns:a="http://schemas.openxmlformats.org/drawingml/2006/main">
          <a:graphicData uri="http://schemas.openxmlformats.org/drawingml/2006/chart">
            <c:chart xmlns:c="http://schemas.openxmlformats.org/drawingml/2006/chart" r:id="rId2"/>
          </a:graphicData>
        </a:graphic>
      </p:graphicFrame>
      <p:sp>
        <p:nvSpPr>
          <p:cNvPr id="13" name="takeaway"/>
          <p:cNvSpPr/>
          <p:nvPr/>
        </p:nvSpPr>
        <p:spPr>
          <a:xfrm>
            <a:off x="548640" y="5623560"/>
            <a:ext cx="11094415" cy="548640"/>
          </a:xfrm>
          <a:prstGeom prst="roundRect">
            <a:avLst>
              <a:gd name="adj" fmla="val 16667"/>
            </a:avLst>
          </a:prstGeom>
          <a:solidFill>
            <a:srgbClr val="E4F8EE"/>
          </a:solidFill>
          <a:ln/>
        </p:spPr>
      </p:sp>
      <p:sp>
        <p:nvSpPr>
          <p:cNvPr id="14" name="Text 9"/>
          <p:cNvSpPr txBox="1"/>
          <p:nvPr/>
        </p:nvSpPr>
        <p:spPr>
          <a:xfrm>
            <a:off x="822960" y="5623560"/>
            <a:ext cx="10545775" cy="548640"/>
          </a:xfrm>
          <a:prstGeom prst="rect">
            <a:avLst/>
          </a:prstGeom>
          <a:noFill/>
          <a:ln/>
        </p:spPr>
        <p:txBody>
          <a:bodyPr wrap="square" lIns="0" tIns="0" rIns="0" bIns="0" rtlCol="0" anchor="ctr"/>
          <a:lstStyle/>
          <a:p>
            <a:pPr indent="0" marL="0">
              <a:buNone/>
            </a:pPr>
            <a:r>
              <a:rPr lang="en-US" sz="1700" b="1" dirty="0">
                <a:solidFill>
                  <a:schemeClr val="accent6"/>
                </a:solidFill>
              </a:rPr>
              <a:t>Round number = weakest result.</a:t>
            </a:r>
            <a:endParaRPr lang="en-US" sz="1700" dirty="0"/>
          </a:p>
        </p:txBody>
      </p:sp>
      <p:sp>
        <p:nvSpPr>
          <p:cNvPr id="15"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A KEY STEP</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bg1"/>
                </a:solidFill>
              </a:rPr>
              <a:t>The trap: data from the future</a:t>
            </a:r>
            <a:endParaRPr lang="en-US" sz="3400" dirty="0"/>
          </a:p>
        </p:txBody>
      </p:sp>
      <p:sp>
        <p:nvSpPr>
          <p:cNvPr id="5" name="future zone"/>
          <p:cNvSpPr/>
          <p:nvPr/>
        </p:nvSpPr>
        <p:spPr>
          <a:xfrm>
            <a:off x="4675762" y="1600200"/>
            <a:ext cx="6967293" cy="4480560"/>
          </a:xfrm>
          <a:prstGeom prst="roundRect">
            <a:avLst>
              <a:gd name="adj" fmla="val 3061"/>
            </a:avLst>
          </a:prstGeom>
          <a:solidFill>
            <a:srgbClr val="FF6B6B">
              <a:alpha val="8000"/>
            </a:srgbClr>
          </a:solidFill>
          <a:ln w="12700">
            <a:solidFill>
              <a:srgbClr val="FF6B6B">
                <a:alpha val="50000"/>
              </a:srgbClr>
            </a:solidFill>
            <a:prstDash val="dash"/>
          </a:ln>
        </p:spPr>
      </p:sp>
      <p:sp>
        <p:nvSpPr>
          <p:cNvPr id="6" name="Text 3"/>
          <p:cNvSpPr txBox="1"/>
          <p:nvPr/>
        </p:nvSpPr>
        <p:spPr>
          <a:xfrm>
            <a:off x="8314731" y="1790284"/>
            <a:ext cx="3106436" cy="320040"/>
          </a:xfrm>
          <a:prstGeom prst="rect">
            <a:avLst/>
          </a:prstGeom>
          <a:noFill/>
          <a:ln/>
        </p:spPr>
        <p:txBody>
          <a:bodyPr wrap="square" lIns="0" tIns="0" rIns="0" bIns="0" rtlCol="0" anchor="t"/>
          <a:lstStyle/>
          <a:p>
            <a:pPr algn="r" indent="0" marL="0">
              <a:buNone/>
            </a:pPr>
            <a:r>
              <a:rPr lang="en-US" sz="1300" b="1" spc="300" kern="0" dirty="0">
                <a:solidFill>
                  <a:srgbClr val="FF8A8A"/>
                </a:solidFill>
              </a:rPr>
              <a:t>THE FUTURE</a:t>
            </a:r>
            <a:endParaRPr lang="en-US" sz="1300" dirty="0"/>
          </a:p>
        </p:txBody>
      </p:sp>
      <p:sp>
        <p:nvSpPr>
          <p:cNvPr id="7" name="Text 4"/>
          <p:cNvSpPr txBox="1"/>
          <p:nvPr/>
        </p:nvSpPr>
        <p:spPr>
          <a:xfrm>
            <a:off x="881472" y="1790284"/>
            <a:ext cx="36576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  WHAT WE USE</a:t>
            </a:r>
            <a:endParaRPr lang="en-US" sz="1300" dirty="0"/>
          </a:p>
        </p:txBody>
      </p:sp>
      <p:sp>
        <p:nvSpPr>
          <p:cNvPr id="8" name="Goal chip"/>
          <p:cNvSpPr/>
          <p:nvPr/>
        </p:nvSpPr>
        <p:spPr>
          <a:xfrm>
            <a:off x="881472" y="2387692"/>
            <a:ext cx="1664162" cy="678873"/>
          </a:xfrm>
          <a:prstGeom prst="roundRect">
            <a:avLst>
              <a:gd name="adj" fmla="val 10776"/>
            </a:avLst>
          </a:prstGeom>
          <a:solidFill>
            <a:srgbClr val="133A2A"/>
          </a:solidFill>
          <a:ln w="15875">
            <a:solidFill>
              <a:srgbClr val="05CE78"/>
            </a:solidFill>
            <a:prstDash val="solid"/>
          </a:ln>
        </p:spPr>
      </p:sp>
      <p:sp>
        <p:nvSpPr>
          <p:cNvPr id="9" name="Text 6"/>
          <p:cNvSpPr txBox="1"/>
          <p:nvPr/>
        </p:nvSpPr>
        <p:spPr>
          <a:xfrm>
            <a:off x="881472" y="2387692"/>
            <a:ext cx="1664162" cy="678873"/>
          </a:xfrm>
          <a:prstGeom prst="rect">
            <a:avLst/>
          </a:prstGeom>
          <a:noFill/>
          <a:ln/>
        </p:spPr>
        <p:txBody>
          <a:bodyPr wrap="square" lIns="0" tIns="0" rIns="0" bIns="0" rtlCol="0" anchor="ctr"/>
          <a:lstStyle/>
          <a:p>
            <a:pPr algn="ctr" indent="0" marL="0">
              <a:buNone/>
            </a:pPr>
            <a:r>
              <a:rPr lang="en-US" sz="1700" b="1" dirty="0">
                <a:solidFill>
                  <a:schemeClr val="bg1"/>
                </a:solidFill>
              </a:rPr>
              <a:t>Goal</a:t>
            </a:r>
            <a:endParaRPr lang="en-US" sz="1700" dirty="0"/>
          </a:p>
        </p:txBody>
      </p:sp>
      <p:sp>
        <p:nvSpPr>
          <p:cNvPr id="10" name="Category chip"/>
          <p:cNvSpPr/>
          <p:nvPr/>
        </p:nvSpPr>
        <p:spPr>
          <a:xfrm>
            <a:off x="2678768" y="2387692"/>
            <a:ext cx="1664162" cy="678873"/>
          </a:xfrm>
          <a:prstGeom prst="roundRect">
            <a:avLst>
              <a:gd name="adj" fmla="val 10776"/>
            </a:avLst>
          </a:prstGeom>
          <a:solidFill>
            <a:srgbClr val="133A2A"/>
          </a:solidFill>
          <a:ln w="15875">
            <a:solidFill>
              <a:srgbClr val="05CE78"/>
            </a:solidFill>
            <a:prstDash val="solid"/>
          </a:ln>
        </p:spPr>
      </p:sp>
      <p:sp>
        <p:nvSpPr>
          <p:cNvPr id="11" name="Text 8"/>
          <p:cNvSpPr txBox="1"/>
          <p:nvPr/>
        </p:nvSpPr>
        <p:spPr>
          <a:xfrm>
            <a:off x="2678768" y="2387692"/>
            <a:ext cx="1664162" cy="678873"/>
          </a:xfrm>
          <a:prstGeom prst="rect">
            <a:avLst/>
          </a:prstGeom>
          <a:noFill/>
          <a:ln/>
        </p:spPr>
        <p:txBody>
          <a:bodyPr wrap="square" lIns="0" tIns="0" rIns="0" bIns="0" rtlCol="0" anchor="ctr"/>
          <a:lstStyle/>
          <a:p>
            <a:pPr algn="ctr" indent="0" marL="0">
              <a:buNone/>
            </a:pPr>
            <a:r>
              <a:rPr lang="en-US" sz="1700" b="1" dirty="0">
                <a:solidFill>
                  <a:schemeClr val="bg1"/>
                </a:solidFill>
              </a:rPr>
              <a:t>Category</a:t>
            </a:r>
            <a:endParaRPr lang="en-US" sz="1700" dirty="0"/>
          </a:p>
        </p:txBody>
      </p:sp>
      <p:sp>
        <p:nvSpPr>
          <p:cNvPr id="12" name="Country chip"/>
          <p:cNvSpPr/>
          <p:nvPr/>
        </p:nvSpPr>
        <p:spPr>
          <a:xfrm>
            <a:off x="881472" y="3229495"/>
            <a:ext cx="1664162" cy="678873"/>
          </a:xfrm>
          <a:prstGeom prst="roundRect">
            <a:avLst>
              <a:gd name="adj" fmla="val 10776"/>
            </a:avLst>
          </a:prstGeom>
          <a:solidFill>
            <a:srgbClr val="133A2A"/>
          </a:solidFill>
          <a:ln w="15875">
            <a:solidFill>
              <a:srgbClr val="05CE78"/>
            </a:solidFill>
            <a:prstDash val="solid"/>
          </a:ln>
        </p:spPr>
      </p:sp>
      <p:sp>
        <p:nvSpPr>
          <p:cNvPr id="13" name="Text 10"/>
          <p:cNvSpPr txBox="1"/>
          <p:nvPr/>
        </p:nvSpPr>
        <p:spPr>
          <a:xfrm>
            <a:off x="881472" y="3229495"/>
            <a:ext cx="1664162" cy="678873"/>
          </a:xfrm>
          <a:prstGeom prst="rect">
            <a:avLst/>
          </a:prstGeom>
          <a:noFill/>
          <a:ln/>
        </p:spPr>
        <p:txBody>
          <a:bodyPr wrap="square" lIns="0" tIns="0" rIns="0" bIns="0" rtlCol="0" anchor="ctr"/>
          <a:lstStyle/>
          <a:p>
            <a:pPr algn="ctr" indent="0" marL="0">
              <a:buNone/>
            </a:pPr>
            <a:r>
              <a:rPr lang="en-US" sz="1700" b="1" dirty="0">
                <a:solidFill>
                  <a:schemeClr val="bg1"/>
                </a:solidFill>
              </a:rPr>
              <a:t>Country</a:t>
            </a:r>
            <a:endParaRPr lang="en-US" sz="1700" dirty="0"/>
          </a:p>
        </p:txBody>
      </p:sp>
      <p:sp>
        <p:nvSpPr>
          <p:cNvPr id="14" name="Length chip"/>
          <p:cNvSpPr/>
          <p:nvPr/>
        </p:nvSpPr>
        <p:spPr>
          <a:xfrm>
            <a:off x="2678768" y="3229495"/>
            <a:ext cx="1664162" cy="678873"/>
          </a:xfrm>
          <a:prstGeom prst="roundRect">
            <a:avLst>
              <a:gd name="adj" fmla="val 10776"/>
            </a:avLst>
          </a:prstGeom>
          <a:solidFill>
            <a:srgbClr val="133A2A"/>
          </a:solidFill>
          <a:ln w="15875">
            <a:solidFill>
              <a:srgbClr val="05CE78"/>
            </a:solidFill>
            <a:prstDash val="solid"/>
          </a:ln>
        </p:spPr>
      </p:sp>
      <p:sp>
        <p:nvSpPr>
          <p:cNvPr id="15" name="Text 12"/>
          <p:cNvSpPr txBox="1"/>
          <p:nvPr/>
        </p:nvSpPr>
        <p:spPr>
          <a:xfrm>
            <a:off x="2678768" y="3229495"/>
            <a:ext cx="1664162" cy="678873"/>
          </a:xfrm>
          <a:prstGeom prst="rect">
            <a:avLst/>
          </a:prstGeom>
          <a:noFill/>
          <a:ln/>
        </p:spPr>
        <p:txBody>
          <a:bodyPr wrap="square" lIns="0" tIns="0" rIns="0" bIns="0" rtlCol="0" anchor="ctr"/>
          <a:lstStyle/>
          <a:p>
            <a:pPr algn="ctr" indent="0" marL="0">
              <a:buNone/>
            </a:pPr>
            <a:r>
              <a:rPr lang="en-US" sz="1700" b="1" dirty="0">
                <a:solidFill>
                  <a:schemeClr val="bg1"/>
                </a:solidFill>
              </a:rPr>
              <a:t>Length</a:t>
            </a:r>
            <a:endParaRPr lang="en-US" sz="1700" dirty="0"/>
          </a:p>
        </p:txBody>
      </p:sp>
      <p:sp>
        <p:nvSpPr>
          <p:cNvPr id="16" name="Money pledged chip"/>
          <p:cNvSpPr/>
          <p:nvPr/>
        </p:nvSpPr>
        <p:spPr>
          <a:xfrm>
            <a:off x="7649066" y="2604932"/>
            <a:ext cx="3328325" cy="678873"/>
          </a:xfrm>
          <a:prstGeom prst="roundRect">
            <a:avLst>
              <a:gd name="adj" fmla="val 10776"/>
            </a:avLst>
          </a:prstGeom>
          <a:solidFill>
            <a:srgbClr val="3A2526"/>
          </a:solidFill>
          <a:ln w="15875">
            <a:solidFill>
              <a:srgbClr val="FF6B6B"/>
            </a:solidFill>
            <a:prstDash val="solid"/>
          </a:ln>
        </p:spPr>
      </p:sp>
      <p:sp>
        <p:nvSpPr>
          <p:cNvPr id="17" name="Text 14"/>
          <p:cNvSpPr txBox="1"/>
          <p:nvPr/>
        </p:nvSpPr>
        <p:spPr>
          <a:xfrm>
            <a:off x="7649066" y="2604932"/>
            <a:ext cx="3328325" cy="678873"/>
          </a:xfrm>
          <a:prstGeom prst="rect">
            <a:avLst/>
          </a:prstGeom>
          <a:noFill/>
          <a:ln/>
        </p:spPr>
        <p:txBody>
          <a:bodyPr wrap="square" lIns="0" tIns="0" rIns="0" bIns="0" rtlCol="0" anchor="ctr"/>
          <a:lstStyle/>
          <a:p>
            <a:pPr algn="ctr" indent="0" marL="0">
              <a:buNone/>
            </a:pPr>
            <a:r>
              <a:rPr lang="en-US" sz="1700" b="1" strike="sngStrike" dirty="0">
                <a:solidFill>
                  <a:srgbClr val="FFB4B4"/>
                </a:solidFill>
              </a:rPr>
              <a:t>Money pledged</a:t>
            </a:r>
            <a:endParaRPr lang="en-US" sz="1700" dirty="0"/>
          </a:p>
        </p:txBody>
      </p:sp>
      <p:sp>
        <p:nvSpPr>
          <p:cNvPr id="18" name="Number of backers chip"/>
          <p:cNvSpPr/>
          <p:nvPr/>
        </p:nvSpPr>
        <p:spPr>
          <a:xfrm>
            <a:off x="7649066" y="3446734"/>
            <a:ext cx="3328325" cy="678873"/>
          </a:xfrm>
          <a:prstGeom prst="roundRect">
            <a:avLst>
              <a:gd name="adj" fmla="val 10776"/>
            </a:avLst>
          </a:prstGeom>
          <a:solidFill>
            <a:srgbClr val="3A2526"/>
          </a:solidFill>
          <a:ln w="15875">
            <a:solidFill>
              <a:srgbClr val="FF6B6B"/>
            </a:solidFill>
            <a:prstDash val="solid"/>
          </a:ln>
        </p:spPr>
      </p:sp>
      <p:sp>
        <p:nvSpPr>
          <p:cNvPr id="19" name="Text 16"/>
          <p:cNvSpPr txBox="1"/>
          <p:nvPr/>
        </p:nvSpPr>
        <p:spPr>
          <a:xfrm>
            <a:off x="7649066" y="3446734"/>
            <a:ext cx="3328325" cy="678873"/>
          </a:xfrm>
          <a:prstGeom prst="rect">
            <a:avLst/>
          </a:prstGeom>
          <a:noFill/>
          <a:ln/>
        </p:spPr>
        <p:txBody>
          <a:bodyPr wrap="square" lIns="0" tIns="0" rIns="0" bIns="0" rtlCol="0" anchor="ctr"/>
          <a:lstStyle/>
          <a:p>
            <a:pPr algn="ctr" indent="0" marL="0">
              <a:buNone/>
            </a:pPr>
            <a:r>
              <a:rPr lang="en-US" sz="1700" b="1" strike="sngStrike" dirty="0">
                <a:solidFill>
                  <a:srgbClr val="FFB4B4"/>
                </a:solidFill>
              </a:rPr>
              <a:t>Number of backers</a:t>
            </a:r>
            <a:endParaRPr lang="en-US" sz="1700" dirty="0"/>
          </a:p>
        </p:txBody>
      </p:sp>
      <p:sp>
        <p:nvSpPr>
          <p:cNvPr id="20" name="Text 17"/>
          <p:cNvSpPr txBox="1"/>
          <p:nvPr/>
        </p:nvSpPr>
        <p:spPr>
          <a:xfrm>
            <a:off x="7649066" y="4315691"/>
            <a:ext cx="3328325" cy="320040"/>
          </a:xfrm>
          <a:prstGeom prst="rect">
            <a:avLst/>
          </a:prstGeom>
          <a:noFill/>
          <a:ln/>
        </p:spPr>
        <p:txBody>
          <a:bodyPr wrap="square" lIns="0" tIns="0" rIns="0" bIns="0" rtlCol="0" anchor="t"/>
          <a:lstStyle/>
          <a:p>
            <a:pPr algn="ctr" indent="0" marL="0">
              <a:buNone/>
            </a:pPr>
            <a:r>
              <a:rPr lang="en-US" sz="1300" b="1" spc="200" kern="0" dirty="0">
                <a:solidFill>
                  <a:srgbClr val="FF6B6B"/>
                </a:solidFill>
              </a:rPr>
              <a:t>✗  NOT USED</a:t>
            </a:r>
            <a:endParaRPr lang="en-US" sz="1300" dirty="0"/>
          </a:p>
        </p:txBody>
      </p:sp>
      <p:sp>
        <p:nvSpPr>
          <p:cNvPr id="21" name="timeline"/>
          <p:cNvSpPr/>
          <p:nvPr/>
        </p:nvSpPr>
        <p:spPr>
          <a:xfrm>
            <a:off x="881472" y="5266113"/>
            <a:ext cx="10495317" cy="0"/>
          </a:xfrm>
          <a:prstGeom prst="line">
            <a:avLst/>
          </a:prstGeom>
          <a:noFill/>
          <a:ln w="31750">
            <a:solidFill>
              <a:srgbClr val="5A645F"/>
            </a:solidFill>
            <a:prstDash val="solid"/>
            <a:tailEnd type="triangle"/>
          </a:ln>
        </p:spPr>
      </p:sp>
      <p:sp>
        <p:nvSpPr>
          <p:cNvPr id="22" name="now line"/>
          <p:cNvSpPr/>
          <p:nvPr/>
        </p:nvSpPr>
        <p:spPr>
          <a:xfrm>
            <a:off x="4675762" y="1600200"/>
            <a:ext cx="0" cy="4480560"/>
          </a:xfrm>
          <a:prstGeom prst="line">
            <a:avLst/>
          </a:prstGeom>
          <a:noFill/>
          <a:ln w="31750">
            <a:solidFill>
              <a:srgbClr val="05CE78"/>
            </a:solidFill>
            <a:prstDash val="solid"/>
          </a:ln>
        </p:spPr>
      </p:sp>
      <p:sp>
        <p:nvSpPr>
          <p:cNvPr id="23" name="you are here"/>
          <p:cNvSpPr/>
          <p:nvPr/>
        </p:nvSpPr>
        <p:spPr>
          <a:xfrm>
            <a:off x="3921342" y="5510507"/>
            <a:ext cx="1508840" cy="461633"/>
          </a:xfrm>
          <a:prstGeom prst="roundRect">
            <a:avLst>
              <a:gd name="adj" fmla="val 33674"/>
            </a:avLst>
          </a:prstGeom>
          <a:solidFill>
            <a:srgbClr val="05CE78"/>
          </a:solidFill>
          <a:ln/>
        </p:spPr>
      </p:sp>
      <p:sp>
        <p:nvSpPr>
          <p:cNvPr id="24" name="Text 21"/>
          <p:cNvSpPr txBox="1"/>
          <p:nvPr/>
        </p:nvSpPr>
        <p:spPr>
          <a:xfrm>
            <a:off x="3921342" y="5510507"/>
            <a:ext cx="1508840" cy="461633"/>
          </a:xfrm>
          <a:prstGeom prst="rect">
            <a:avLst/>
          </a:prstGeom>
          <a:noFill/>
          <a:ln/>
        </p:spPr>
        <p:txBody>
          <a:bodyPr wrap="square" lIns="0" tIns="0" rIns="0" bIns="0" rtlCol="0" anchor="ctr"/>
          <a:lstStyle/>
          <a:p>
            <a:pPr algn="ctr" indent="0" marL="0">
              <a:buNone/>
            </a:pPr>
            <a:r>
              <a:rPr lang="en-US" sz="1000" b="1" spc="100" kern="0" dirty="0">
                <a:solidFill>
                  <a:schemeClr val="tx2"/>
                </a:solidFill>
              </a:rPr>
              <a:t>YOU ARE HERE</a:t>
            </a:r>
            <a:endParaRPr lang="en-US" sz="1000" dirty="0"/>
          </a:p>
        </p:txBody>
      </p:sp>
      <p:sp>
        <p:nvSpPr>
          <p:cNvPr id="25" name="launch marker"/>
          <p:cNvSpPr/>
          <p:nvPr/>
        </p:nvSpPr>
        <p:spPr>
          <a:xfrm>
            <a:off x="4556890" y="5147241"/>
            <a:ext cx="237744" cy="237744"/>
          </a:xfrm>
          <a:prstGeom prst="ellipse">
            <a:avLst/>
          </a:prstGeom>
          <a:solidFill>
            <a:srgbClr val="05CE78"/>
          </a:solidFill>
          <a:ln/>
        </p:spPr>
      </p:sp>
      <p:sp>
        <p:nvSpPr>
          <p:cNvPr id="26" name="end marker"/>
          <p:cNvSpPr/>
          <p:nvPr/>
        </p:nvSpPr>
        <p:spPr>
          <a:xfrm>
            <a:off x="9194356" y="5147241"/>
            <a:ext cx="237744" cy="237744"/>
          </a:xfrm>
          <a:prstGeom prst="ellipse">
            <a:avLst/>
          </a:prstGeom>
          <a:solidFill>
            <a:srgbClr val="FF6B6B"/>
          </a:solidFill>
          <a:ln/>
        </p:spPr>
      </p:sp>
      <p:sp>
        <p:nvSpPr>
          <p:cNvPr id="27" name="Text 24"/>
          <p:cNvSpPr txBox="1"/>
          <p:nvPr/>
        </p:nvSpPr>
        <p:spPr>
          <a:xfrm>
            <a:off x="1547137" y="4858789"/>
            <a:ext cx="2218883" cy="320040"/>
          </a:xfrm>
          <a:prstGeom prst="rect">
            <a:avLst/>
          </a:prstGeom>
          <a:noFill/>
          <a:ln/>
        </p:spPr>
        <p:txBody>
          <a:bodyPr wrap="square" lIns="0" tIns="0" rIns="0" bIns="0" rtlCol="0" anchor="t"/>
          <a:lstStyle/>
          <a:p>
            <a:pPr algn="ctr" indent="0" marL="0">
              <a:buNone/>
            </a:pPr>
            <a:r>
              <a:rPr lang="en-US" sz="1500" b="1" dirty="0">
                <a:solidFill>
                  <a:schemeClr val="bg1"/>
                </a:solidFill>
              </a:rPr>
              <a:t>Launch day</a:t>
            </a:r>
            <a:endParaRPr lang="en-US" sz="1500" dirty="0"/>
          </a:p>
        </p:txBody>
      </p:sp>
      <p:sp>
        <p:nvSpPr>
          <p:cNvPr id="28" name="Text 25"/>
          <p:cNvSpPr txBox="1"/>
          <p:nvPr/>
        </p:nvSpPr>
        <p:spPr>
          <a:xfrm>
            <a:off x="8203786" y="5483352"/>
            <a:ext cx="2218883" cy="320040"/>
          </a:xfrm>
          <a:prstGeom prst="rect">
            <a:avLst/>
          </a:prstGeom>
          <a:noFill/>
          <a:ln/>
        </p:spPr>
        <p:txBody>
          <a:bodyPr wrap="square" lIns="0" tIns="0" rIns="0" bIns="0" rtlCol="0" anchor="t"/>
          <a:lstStyle/>
          <a:p>
            <a:pPr algn="ctr" indent="0" marL="0">
              <a:buNone/>
            </a:pPr>
            <a:r>
              <a:rPr lang="en-US" sz="1500" b="1" dirty="0">
                <a:solidFill>
                  <a:schemeClr val="bg1"/>
                </a:solidFill>
              </a:rPr>
              <a:t>Campaign ends</a:t>
            </a:r>
            <a:endParaRPr lang="en-US" sz="1500" dirty="0"/>
          </a:p>
        </p:txBody>
      </p:sp>
      <p:sp>
        <p:nvSpPr>
          <p:cNvPr id="29"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OUR PROCESS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How we built it</a:t>
            </a:r>
            <a:endParaRPr lang="en-US" sz="3400" dirty="0"/>
          </a:p>
        </p:txBody>
      </p:sp>
      <p:sp>
        <p:nvSpPr>
          <p:cNvPr id="5" name="step 1"/>
          <p:cNvSpPr/>
          <p:nvPr/>
        </p:nvSpPr>
        <p:spPr>
          <a:xfrm>
            <a:off x="548640" y="2011680"/>
            <a:ext cx="1999427" cy="3291840"/>
          </a:xfrm>
          <a:prstGeom prst="roundRect">
            <a:avLst>
              <a:gd name="adj" fmla="val 6403"/>
            </a:avLst>
          </a:prstGeom>
          <a:solidFill>
            <a:schemeClr val="bg2"/>
          </a:solidFill>
          <a:ln/>
        </p:spPr>
      </p:sp>
      <p:sp>
        <p:nvSpPr>
          <p:cNvPr id="6" name="step 1 number"/>
          <p:cNvSpPr/>
          <p:nvPr/>
        </p:nvSpPr>
        <p:spPr>
          <a:xfrm>
            <a:off x="822960" y="2286000"/>
            <a:ext cx="457200" cy="457200"/>
          </a:xfrm>
          <a:prstGeom prst="ellipse">
            <a:avLst/>
          </a:prstGeom>
          <a:solidFill>
            <a:schemeClr val="accent1"/>
          </a:solidFill>
          <a:ln/>
        </p:spPr>
      </p:sp>
      <p:sp>
        <p:nvSpPr>
          <p:cNvPr id="7" name="Text 4"/>
          <p:cNvSpPr txBox="1"/>
          <p:nvPr/>
        </p:nvSpPr>
        <p:spPr>
          <a:xfrm>
            <a:off x="822960"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pic>
        <p:nvPicPr>
          <p:cNvPr id="8" name="step 1 icon" descr="Clean the data">    </p:cNvPr>
          <p:cNvPicPr>
            <a:picLocks noChangeAspect="1"/>
          </p:cNvPicPr>
          <p:nvPr/>
        </p:nvPicPr>
        <p:blipFill>
          <a:blip r:embed="rId1"/>
          <a:stretch>
            <a:fillRect/>
          </a:stretch>
        </p:blipFill>
        <p:spPr>
          <a:xfrm>
            <a:off x="822960" y="2971800"/>
            <a:ext cx="594360" cy="594360"/>
          </a:xfrm>
          <a:prstGeom prst="rect">
            <a:avLst/>
          </a:prstGeom>
        </p:spPr>
      </p:pic>
      <p:sp>
        <p:nvSpPr>
          <p:cNvPr id="9" name="Text 5"/>
          <p:cNvSpPr txBox="1"/>
          <p:nvPr/>
        </p:nvSpPr>
        <p:spPr>
          <a:xfrm>
            <a:off x="822960" y="3794760"/>
            <a:ext cx="1542227" cy="822960"/>
          </a:xfrm>
          <a:prstGeom prst="rect">
            <a:avLst/>
          </a:prstGeom>
          <a:noFill/>
          <a:ln/>
        </p:spPr>
        <p:txBody>
          <a:bodyPr wrap="square" lIns="0" tIns="0" rIns="0" bIns="0" rtlCol="0" anchor="t"/>
          <a:lstStyle/>
          <a:p>
            <a:pPr indent="0" marL="0">
              <a:buNone/>
            </a:pPr>
            <a:r>
              <a:rPr lang="en-US" sz="1800" b="1" dirty="0">
                <a:solidFill>
                  <a:schemeClr val="tx1"/>
                </a:solidFill>
              </a:rPr>
              <a:t>Clean the data</a:t>
            </a:r>
            <a:endParaRPr lang="en-US" sz="1800" dirty="0"/>
          </a:p>
        </p:txBody>
      </p:sp>
      <p:sp>
        <p:nvSpPr>
          <p:cNvPr id="10" name="Text 6"/>
          <p:cNvSpPr txBox="1"/>
          <p:nvPr/>
        </p:nvSpPr>
        <p:spPr>
          <a:xfrm>
            <a:off x="2548067" y="3291840"/>
            <a:ext cx="274320" cy="54864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11" name="step 2"/>
          <p:cNvSpPr/>
          <p:nvPr/>
        </p:nvSpPr>
        <p:spPr>
          <a:xfrm>
            <a:off x="2822387" y="2011680"/>
            <a:ext cx="1999427" cy="3291840"/>
          </a:xfrm>
          <a:prstGeom prst="roundRect">
            <a:avLst>
              <a:gd name="adj" fmla="val 6403"/>
            </a:avLst>
          </a:prstGeom>
          <a:solidFill>
            <a:schemeClr val="bg2"/>
          </a:solidFill>
          <a:ln/>
        </p:spPr>
      </p:sp>
      <p:sp>
        <p:nvSpPr>
          <p:cNvPr id="12" name="step 2 number"/>
          <p:cNvSpPr/>
          <p:nvPr/>
        </p:nvSpPr>
        <p:spPr>
          <a:xfrm>
            <a:off x="3096707" y="2286000"/>
            <a:ext cx="457200" cy="457200"/>
          </a:xfrm>
          <a:prstGeom prst="ellipse">
            <a:avLst/>
          </a:prstGeom>
          <a:solidFill>
            <a:schemeClr val="accent1"/>
          </a:solidFill>
          <a:ln/>
        </p:spPr>
      </p:sp>
      <p:sp>
        <p:nvSpPr>
          <p:cNvPr id="13" name="Text 9"/>
          <p:cNvSpPr txBox="1"/>
          <p:nvPr/>
        </p:nvSpPr>
        <p:spPr>
          <a:xfrm>
            <a:off x="3096707"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pic>
        <p:nvPicPr>
          <p:cNvPr id="14" name="step 2 icon" descr="Remove future data">    </p:cNvPr>
          <p:cNvPicPr>
            <a:picLocks noChangeAspect="1"/>
          </p:cNvPicPr>
          <p:nvPr/>
        </p:nvPicPr>
        <p:blipFill>
          <a:blip r:embed="rId2"/>
          <a:stretch>
            <a:fillRect/>
          </a:stretch>
        </p:blipFill>
        <p:spPr>
          <a:xfrm>
            <a:off x="3096707" y="2971800"/>
            <a:ext cx="594360" cy="594360"/>
          </a:xfrm>
          <a:prstGeom prst="rect">
            <a:avLst/>
          </a:prstGeom>
        </p:spPr>
      </p:pic>
      <p:sp>
        <p:nvSpPr>
          <p:cNvPr id="15" name="Text 10"/>
          <p:cNvSpPr txBox="1"/>
          <p:nvPr/>
        </p:nvSpPr>
        <p:spPr>
          <a:xfrm>
            <a:off x="3096707" y="3794760"/>
            <a:ext cx="1542227" cy="822960"/>
          </a:xfrm>
          <a:prstGeom prst="rect">
            <a:avLst/>
          </a:prstGeom>
          <a:noFill/>
          <a:ln/>
        </p:spPr>
        <p:txBody>
          <a:bodyPr wrap="square" lIns="0" tIns="0" rIns="0" bIns="0" rtlCol="0" anchor="t"/>
          <a:lstStyle/>
          <a:p>
            <a:pPr indent="0" marL="0">
              <a:buNone/>
            </a:pPr>
            <a:r>
              <a:rPr lang="en-US" sz="1800" b="1" dirty="0">
                <a:solidFill>
                  <a:schemeClr val="tx1"/>
                </a:solidFill>
              </a:rPr>
              <a:t>Remove future data</a:t>
            </a:r>
            <a:endParaRPr lang="en-US" sz="1800" dirty="0"/>
          </a:p>
        </p:txBody>
      </p:sp>
      <p:sp>
        <p:nvSpPr>
          <p:cNvPr id="16" name="Text 11"/>
          <p:cNvSpPr txBox="1"/>
          <p:nvPr/>
        </p:nvSpPr>
        <p:spPr>
          <a:xfrm>
            <a:off x="4821814" y="3291840"/>
            <a:ext cx="274320" cy="54864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17" name="step 3"/>
          <p:cNvSpPr/>
          <p:nvPr/>
        </p:nvSpPr>
        <p:spPr>
          <a:xfrm>
            <a:off x="5096134" y="2011680"/>
            <a:ext cx="1999427" cy="3291840"/>
          </a:xfrm>
          <a:prstGeom prst="roundRect">
            <a:avLst>
              <a:gd name="adj" fmla="val 6403"/>
            </a:avLst>
          </a:prstGeom>
          <a:solidFill>
            <a:schemeClr val="bg2"/>
          </a:solidFill>
          <a:ln/>
        </p:spPr>
      </p:sp>
      <p:sp>
        <p:nvSpPr>
          <p:cNvPr id="18" name="step 3 number"/>
          <p:cNvSpPr/>
          <p:nvPr/>
        </p:nvSpPr>
        <p:spPr>
          <a:xfrm>
            <a:off x="5370454" y="2286000"/>
            <a:ext cx="457200" cy="457200"/>
          </a:xfrm>
          <a:prstGeom prst="ellipse">
            <a:avLst/>
          </a:prstGeom>
          <a:solidFill>
            <a:schemeClr val="accent1"/>
          </a:solidFill>
          <a:ln/>
        </p:spPr>
      </p:sp>
      <p:sp>
        <p:nvSpPr>
          <p:cNvPr id="19" name="Text 14"/>
          <p:cNvSpPr txBox="1"/>
          <p:nvPr/>
        </p:nvSpPr>
        <p:spPr>
          <a:xfrm>
            <a:off x="5370454"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pic>
        <p:nvPicPr>
          <p:cNvPr id="20" name="step 3 icon" descr="to train">    </p:cNvPr>
          <p:cNvPicPr>
            <a:picLocks noChangeAspect="1"/>
          </p:cNvPicPr>
          <p:nvPr/>
        </p:nvPicPr>
        <p:blipFill>
          <a:blip r:embed="rId3"/>
          <a:stretch>
            <a:fillRect/>
          </a:stretch>
        </p:blipFill>
        <p:spPr>
          <a:xfrm>
            <a:off x="5370454" y="2971800"/>
            <a:ext cx="594360" cy="594360"/>
          </a:xfrm>
          <a:prstGeom prst="rect">
            <a:avLst/>
          </a:prstGeom>
        </p:spPr>
      </p:pic>
      <p:sp>
        <p:nvSpPr>
          <p:cNvPr id="21" name="Text 15"/>
          <p:cNvSpPr txBox="1"/>
          <p:nvPr/>
        </p:nvSpPr>
        <p:spPr>
          <a:xfrm>
            <a:off x="5370454" y="3657600"/>
            <a:ext cx="1542227" cy="640080"/>
          </a:xfrm>
          <a:prstGeom prst="rect">
            <a:avLst/>
          </a:prstGeom>
          <a:noFill/>
          <a:ln/>
        </p:spPr>
        <p:txBody>
          <a:bodyPr wrap="square" lIns="0" tIns="0" rIns="0" bIns="0" rtlCol="0" anchor="t"/>
          <a:lstStyle/>
          <a:p>
            <a:pPr indent="0" marL="0">
              <a:buNone/>
            </a:pPr>
            <a:r>
              <a:rPr lang="en-US" sz="3600" b="1" dirty="0">
                <a:solidFill>
                  <a:schemeClr val="tx1"/>
                </a:solidFill>
                <a:latin typeface="Calibri" pitchFamily="34" charset="0"/>
                <a:ea typeface="Calibri" pitchFamily="34" charset="-122"/>
                <a:cs typeface="Calibri" pitchFamily="34" charset="-120"/>
              </a:rPr>
              <a:t>80%</a:t>
            </a:r>
            <a:endParaRPr lang="en-US" sz="3600" dirty="0"/>
          </a:p>
        </p:txBody>
      </p:sp>
      <p:sp>
        <p:nvSpPr>
          <p:cNvPr id="22" name="Text 16"/>
          <p:cNvSpPr txBox="1"/>
          <p:nvPr/>
        </p:nvSpPr>
        <p:spPr>
          <a:xfrm>
            <a:off x="5370454" y="4297680"/>
            <a:ext cx="1542227" cy="822960"/>
          </a:xfrm>
          <a:prstGeom prst="rect">
            <a:avLst/>
          </a:prstGeom>
          <a:noFill/>
          <a:ln/>
        </p:spPr>
        <p:txBody>
          <a:bodyPr wrap="square" lIns="0" tIns="0" rIns="0" bIns="0" rtlCol="0" anchor="t"/>
          <a:lstStyle/>
          <a:p>
            <a:pPr indent="0" marL="0">
              <a:buNone/>
            </a:pPr>
            <a:r>
              <a:rPr lang="en-US" sz="1800" b="1" dirty="0">
                <a:solidFill>
                  <a:schemeClr val="tx1"/>
                </a:solidFill>
              </a:rPr>
              <a:t>to train</a:t>
            </a:r>
            <a:endParaRPr lang="en-US" sz="1800" dirty="0"/>
          </a:p>
        </p:txBody>
      </p:sp>
      <p:sp>
        <p:nvSpPr>
          <p:cNvPr id="23" name="Text 17"/>
          <p:cNvSpPr txBox="1"/>
          <p:nvPr/>
        </p:nvSpPr>
        <p:spPr>
          <a:xfrm>
            <a:off x="7095561" y="3291840"/>
            <a:ext cx="274320" cy="54864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24" name="step 4"/>
          <p:cNvSpPr/>
          <p:nvPr/>
        </p:nvSpPr>
        <p:spPr>
          <a:xfrm>
            <a:off x="7369881" y="2011680"/>
            <a:ext cx="1999427" cy="3291840"/>
          </a:xfrm>
          <a:prstGeom prst="roundRect">
            <a:avLst>
              <a:gd name="adj" fmla="val 6403"/>
            </a:avLst>
          </a:prstGeom>
          <a:solidFill>
            <a:schemeClr val="bg2"/>
          </a:solidFill>
          <a:ln/>
        </p:spPr>
      </p:sp>
      <p:sp>
        <p:nvSpPr>
          <p:cNvPr id="25" name="step 4 number"/>
          <p:cNvSpPr/>
          <p:nvPr/>
        </p:nvSpPr>
        <p:spPr>
          <a:xfrm>
            <a:off x="7644201" y="2286000"/>
            <a:ext cx="457200" cy="457200"/>
          </a:xfrm>
          <a:prstGeom prst="ellipse">
            <a:avLst/>
          </a:prstGeom>
          <a:solidFill>
            <a:schemeClr val="accent1"/>
          </a:solidFill>
          <a:ln/>
        </p:spPr>
      </p:sp>
      <p:sp>
        <p:nvSpPr>
          <p:cNvPr id="26" name="Text 20"/>
          <p:cNvSpPr txBox="1"/>
          <p:nvPr/>
        </p:nvSpPr>
        <p:spPr>
          <a:xfrm>
            <a:off x="7644201"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pic>
        <p:nvPicPr>
          <p:cNvPr id="27" name="step 4 icon" descr="for the test">    </p:cNvPr>
          <p:cNvPicPr>
            <a:picLocks noChangeAspect="1"/>
          </p:cNvPicPr>
          <p:nvPr/>
        </p:nvPicPr>
        <p:blipFill>
          <a:blip r:embed="rId4"/>
          <a:stretch>
            <a:fillRect/>
          </a:stretch>
        </p:blipFill>
        <p:spPr>
          <a:xfrm>
            <a:off x="7644201" y="2971800"/>
            <a:ext cx="594360" cy="594360"/>
          </a:xfrm>
          <a:prstGeom prst="rect">
            <a:avLst/>
          </a:prstGeom>
        </p:spPr>
      </p:pic>
      <p:sp>
        <p:nvSpPr>
          <p:cNvPr id="28" name="Text 21"/>
          <p:cNvSpPr txBox="1"/>
          <p:nvPr/>
        </p:nvSpPr>
        <p:spPr>
          <a:xfrm>
            <a:off x="7644201" y="3657600"/>
            <a:ext cx="1542227" cy="640080"/>
          </a:xfrm>
          <a:prstGeom prst="rect">
            <a:avLst/>
          </a:prstGeom>
          <a:noFill/>
          <a:ln/>
        </p:spPr>
        <p:txBody>
          <a:bodyPr wrap="square" lIns="0" tIns="0" rIns="0" bIns="0" rtlCol="0" anchor="t"/>
          <a:lstStyle/>
          <a:p>
            <a:pPr indent="0" marL="0">
              <a:buNone/>
            </a:pPr>
            <a:r>
              <a:rPr lang="en-US" sz="3600" b="1" dirty="0">
                <a:solidFill>
                  <a:schemeClr val="tx1"/>
                </a:solidFill>
                <a:latin typeface="Calibri" pitchFamily="34" charset="0"/>
                <a:ea typeface="Calibri" pitchFamily="34" charset="-122"/>
                <a:cs typeface="Calibri" pitchFamily="34" charset="-120"/>
              </a:rPr>
              <a:t>20%</a:t>
            </a:r>
            <a:endParaRPr lang="en-US" sz="3600" dirty="0"/>
          </a:p>
        </p:txBody>
      </p:sp>
      <p:sp>
        <p:nvSpPr>
          <p:cNvPr id="29" name="Text 22"/>
          <p:cNvSpPr txBox="1"/>
          <p:nvPr/>
        </p:nvSpPr>
        <p:spPr>
          <a:xfrm>
            <a:off x="7644201" y="4297680"/>
            <a:ext cx="1542227" cy="822960"/>
          </a:xfrm>
          <a:prstGeom prst="rect">
            <a:avLst/>
          </a:prstGeom>
          <a:noFill/>
          <a:ln/>
        </p:spPr>
        <p:txBody>
          <a:bodyPr wrap="square" lIns="0" tIns="0" rIns="0" bIns="0" rtlCol="0" anchor="t"/>
          <a:lstStyle/>
          <a:p>
            <a:pPr indent="0" marL="0">
              <a:buNone/>
            </a:pPr>
            <a:r>
              <a:rPr lang="en-US" sz="1800" b="1" dirty="0">
                <a:solidFill>
                  <a:schemeClr val="tx1"/>
                </a:solidFill>
              </a:rPr>
              <a:t>for the test</a:t>
            </a:r>
            <a:endParaRPr lang="en-US" sz="1800" dirty="0"/>
          </a:p>
        </p:txBody>
      </p:sp>
      <p:sp>
        <p:nvSpPr>
          <p:cNvPr id="30" name="Text 23"/>
          <p:cNvSpPr txBox="1"/>
          <p:nvPr/>
        </p:nvSpPr>
        <p:spPr>
          <a:xfrm>
            <a:off x="9369308" y="3291840"/>
            <a:ext cx="274320" cy="54864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31" name="step 5"/>
          <p:cNvSpPr/>
          <p:nvPr/>
        </p:nvSpPr>
        <p:spPr>
          <a:xfrm>
            <a:off x="9643628" y="2011680"/>
            <a:ext cx="1999427" cy="3291840"/>
          </a:xfrm>
          <a:prstGeom prst="roundRect">
            <a:avLst>
              <a:gd name="adj" fmla="val 6403"/>
            </a:avLst>
          </a:prstGeom>
          <a:solidFill>
            <a:schemeClr val="tx2"/>
          </a:solidFill>
          <a:ln/>
        </p:spPr>
      </p:sp>
      <p:sp>
        <p:nvSpPr>
          <p:cNvPr id="32" name="step 5 number"/>
          <p:cNvSpPr/>
          <p:nvPr/>
        </p:nvSpPr>
        <p:spPr>
          <a:xfrm>
            <a:off x="9917948" y="2286000"/>
            <a:ext cx="457200" cy="457200"/>
          </a:xfrm>
          <a:prstGeom prst="ellipse">
            <a:avLst/>
          </a:prstGeom>
          <a:solidFill>
            <a:schemeClr val="accent1"/>
          </a:solidFill>
          <a:ln/>
        </p:spPr>
      </p:sp>
      <p:sp>
        <p:nvSpPr>
          <p:cNvPr id="33" name="Text 26"/>
          <p:cNvSpPr txBox="1"/>
          <p:nvPr/>
        </p:nvSpPr>
        <p:spPr>
          <a:xfrm>
            <a:off x="9917948"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pic>
        <p:nvPicPr>
          <p:cNvPr id="34" name="step 5 icon" descr="Pick the best model">    </p:cNvPr>
          <p:cNvPicPr>
            <a:picLocks noChangeAspect="1"/>
          </p:cNvPicPr>
          <p:nvPr/>
        </p:nvPicPr>
        <p:blipFill>
          <a:blip r:embed="rId5"/>
          <a:stretch>
            <a:fillRect/>
          </a:stretch>
        </p:blipFill>
        <p:spPr>
          <a:xfrm>
            <a:off x="9917948" y="2971800"/>
            <a:ext cx="594360" cy="594360"/>
          </a:xfrm>
          <a:prstGeom prst="rect">
            <a:avLst/>
          </a:prstGeom>
        </p:spPr>
      </p:pic>
      <p:sp>
        <p:nvSpPr>
          <p:cNvPr id="35" name="Text 27"/>
          <p:cNvSpPr txBox="1"/>
          <p:nvPr/>
        </p:nvSpPr>
        <p:spPr>
          <a:xfrm>
            <a:off x="9917948" y="3794760"/>
            <a:ext cx="1542227" cy="822960"/>
          </a:xfrm>
          <a:prstGeom prst="rect">
            <a:avLst/>
          </a:prstGeom>
          <a:noFill/>
          <a:ln/>
        </p:spPr>
        <p:txBody>
          <a:bodyPr wrap="square" lIns="0" tIns="0" rIns="0" bIns="0" rtlCol="0" anchor="t"/>
          <a:lstStyle/>
          <a:p>
            <a:pPr indent="0" marL="0">
              <a:buNone/>
            </a:pPr>
            <a:r>
              <a:rPr lang="en-US" sz="1800" b="1" dirty="0">
                <a:solidFill>
                  <a:schemeClr val="bg1"/>
                </a:solidFill>
              </a:rPr>
              <a:t>Pick the best model</a:t>
            </a:r>
            <a:endParaRPr lang="en-US" sz="1800" dirty="0"/>
          </a:p>
        </p:txBody>
      </p:sp>
      <p:sp>
        <p:nvSpPr>
          <p:cNvPr id="36"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MODEL COMPARISON</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Gradient boosting performed best</a:t>
            </a:r>
            <a:endParaRPr lang="en-US" sz="3400" dirty="0"/>
          </a:p>
        </p:txBody>
      </p:sp>
      <p:graphicFrame>
        <p:nvGraphicFramePr>
          <p:cNvPr id="5" name="Model comparison" descr=""/>
          <p:cNvGraphicFramePr/>
          <p:nvPr/>
        </p:nvGraphicFramePr>
        <p:xfrm>
          <a:off x="548640" y="1737360"/>
          <a:ext cx="9997135" cy="4389120"/>
        </p:xfrm>
        <a:graphic xmlns:a="http://schemas.openxmlformats.org/drawingml/2006/main">
          <a:graphicData uri="http://schemas.openxmlformats.org/drawingml/2006/chart">
            <c:chart xmlns:c="http://schemas.openxmlformats.org/drawingml/2006/chart" r:id="rId1"/>
          </a:graphicData>
        </a:graphic>
      </p:graphicFrame>
      <p:sp>
        <p:nvSpPr>
          <p:cNvPr id="6" name="best badge"/>
          <p:cNvSpPr/>
          <p:nvPr/>
        </p:nvSpPr>
        <p:spPr>
          <a:xfrm>
            <a:off x="10682935" y="2194560"/>
            <a:ext cx="868680" cy="365760"/>
          </a:xfrm>
          <a:prstGeom prst="roundRect">
            <a:avLst>
              <a:gd name="adj" fmla="val 15000"/>
            </a:avLst>
          </a:prstGeom>
          <a:solidFill>
            <a:srgbClr val="05CE78"/>
          </a:solidFill>
          <a:ln/>
        </p:spPr>
      </p:sp>
      <p:sp>
        <p:nvSpPr>
          <p:cNvPr id="7" name="Text 3"/>
          <p:cNvSpPr txBox="1"/>
          <p:nvPr/>
        </p:nvSpPr>
        <p:spPr>
          <a:xfrm>
            <a:off x="10682935" y="2194560"/>
            <a:ext cx="868680" cy="365760"/>
          </a:xfrm>
          <a:prstGeom prst="rect">
            <a:avLst/>
          </a:prstGeom>
          <a:noFill/>
          <a:ln/>
        </p:spPr>
        <p:txBody>
          <a:bodyPr wrap="square" lIns="0" tIns="0" rIns="0" bIns="0" rtlCol="0" anchor="ctr"/>
          <a:lstStyle/>
          <a:p>
            <a:pPr algn="ctr" indent="0" marL="0">
              <a:buNone/>
            </a:pPr>
            <a:r>
              <a:rPr lang="en-US" sz="1300" b="1" spc="100" kern="0" dirty="0">
                <a:solidFill>
                  <a:schemeClr val="tx2"/>
                </a:solidFill>
              </a:rPr>
              <a:t>BEST</a:t>
            </a:r>
            <a:endParaRPr lang="en-US" sz="1300" dirty="0"/>
          </a:p>
        </p:txBody>
      </p:sp>
      <p:sp>
        <p:nvSpPr>
          <p:cNvPr id="8"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CAN YOU TRUST IT?</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When we predict 35%, 35% get funded</a:t>
            </a:r>
            <a:endParaRPr lang="en-US" sz="3400" dirty="0"/>
          </a:p>
        </p:txBody>
      </p:sp>
      <p:sp>
        <p:nvSpPr>
          <p:cNvPr id="5" name="how 1"/>
          <p:cNvSpPr/>
          <p:nvPr/>
        </p:nvSpPr>
        <p:spPr>
          <a:xfrm>
            <a:off x="1478128" y="1463040"/>
            <a:ext cx="2286000" cy="685800"/>
          </a:xfrm>
          <a:prstGeom prst="roundRect">
            <a:avLst>
              <a:gd name="adj" fmla="val 16000"/>
            </a:avLst>
          </a:prstGeom>
          <a:solidFill>
            <a:schemeClr val="bg2"/>
          </a:solidFill>
          <a:ln/>
        </p:spPr>
      </p:sp>
      <p:pic>
        <p:nvPicPr>
          <p:cNvPr id="6" name="how 1 icon" descr="preencoded.png">    </p:cNvPr>
          <p:cNvPicPr>
            <a:picLocks noChangeAspect="1"/>
          </p:cNvPicPr>
          <p:nvPr/>
        </p:nvPicPr>
        <p:blipFill>
          <a:blip r:embed="rId1"/>
          <a:stretch>
            <a:fillRect/>
          </a:stretch>
        </p:blipFill>
        <p:spPr>
          <a:xfrm>
            <a:off x="1661008" y="1627632"/>
            <a:ext cx="365760" cy="365760"/>
          </a:xfrm>
          <a:prstGeom prst="rect">
            <a:avLst/>
          </a:prstGeom>
        </p:spPr>
      </p:pic>
      <p:sp>
        <p:nvSpPr>
          <p:cNvPr id="7" name="Text 3"/>
          <p:cNvSpPr txBox="1"/>
          <p:nvPr/>
        </p:nvSpPr>
        <p:spPr>
          <a:xfrm>
            <a:off x="2136496" y="1463040"/>
            <a:ext cx="1554480" cy="685800"/>
          </a:xfrm>
          <a:prstGeom prst="rect">
            <a:avLst/>
          </a:prstGeom>
          <a:noFill/>
          <a:ln/>
        </p:spPr>
        <p:txBody>
          <a:bodyPr wrap="square" lIns="0" tIns="0" rIns="0" bIns="0" rtlCol="0" anchor="ctr"/>
          <a:lstStyle/>
          <a:p>
            <a:pPr indent="0" marL="0">
              <a:buNone/>
            </a:pPr>
            <a:r>
              <a:rPr lang="en-US" sz="1500" b="1" dirty="0">
                <a:solidFill>
                  <a:schemeClr val="tx1"/>
                </a:solidFill>
              </a:rPr>
              <a:t>Campaign plan</a:t>
            </a:r>
            <a:endParaRPr lang="en-US" sz="1500" dirty="0"/>
          </a:p>
        </p:txBody>
      </p:sp>
      <p:sp>
        <p:nvSpPr>
          <p:cNvPr id="8" name="Text 4"/>
          <p:cNvSpPr txBox="1"/>
          <p:nvPr/>
        </p:nvSpPr>
        <p:spPr>
          <a:xfrm>
            <a:off x="3764128" y="1463040"/>
            <a:ext cx="548640" cy="6858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9" name="how 2"/>
          <p:cNvSpPr/>
          <p:nvPr/>
        </p:nvSpPr>
        <p:spPr>
          <a:xfrm>
            <a:off x="4312768" y="1463040"/>
            <a:ext cx="3291840" cy="685800"/>
          </a:xfrm>
          <a:prstGeom prst="roundRect">
            <a:avLst>
              <a:gd name="adj" fmla="val 16000"/>
            </a:avLst>
          </a:prstGeom>
          <a:solidFill>
            <a:schemeClr val="tx2"/>
          </a:solidFill>
          <a:ln/>
        </p:spPr>
      </p:sp>
      <p:pic>
        <p:nvPicPr>
          <p:cNvPr id="10" name="how 2 icon" descr="preencoded.png">    </p:cNvPr>
          <p:cNvPicPr>
            <a:picLocks noChangeAspect="1"/>
          </p:cNvPicPr>
          <p:nvPr/>
        </p:nvPicPr>
        <p:blipFill>
          <a:blip r:embed="rId2"/>
          <a:stretch>
            <a:fillRect/>
          </a:stretch>
        </p:blipFill>
        <p:spPr>
          <a:xfrm>
            <a:off x="4495648" y="1627632"/>
            <a:ext cx="365760" cy="365760"/>
          </a:xfrm>
          <a:prstGeom prst="rect">
            <a:avLst/>
          </a:prstGeom>
        </p:spPr>
      </p:pic>
      <p:sp>
        <p:nvSpPr>
          <p:cNvPr id="11" name="Text 6"/>
          <p:cNvSpPr txBox="1"/>
          <p:nvPr/>
        </p:nvSpPr>
        <p:spPr>
          <a:xfrm>
            <a:off x="4971136" y="1463040"/>
            <a:ext cx="2560320" cy="685800"/>
          </a:xfrm>
          <a:prstGeom prst="rect">
            <a:avLst/>
          </a:prstGeom>
          <a:noFill/>
          <a:ln/>
        </p:spPr>
        <p:txBody>
          <a:bodyPr wrap="square" lIns="0" tIns="0" rIns="0" bIns="0" rtlCol="0" anchor="ctr"/>
          <a:lstStyle/>
          <a:p>
            <a:pPr indent="0" marL="0">
              <a:buNone/>
            </a:pPr>
            <a:r>
              <a:rPr lang="en-US" sz="1500" b="1" dirty="0">
                <a:solidFill>
                  <a:schemeClr val="bg1"/>
                </a:solidFill>
              </a:rPr>
              <a:t>Our model</a:t>
            </a:r>
            <a:pPr indent="0" marL="0">
              <a:buNone/>
            </a:pPr>
            <a:r>
              <a:rPr lang="en-US" sz="1100" dirty="0">
                <a:solidFill>
                  <a:srgbClr val="9AA7A0"/>
                </a:solidFill>
              </a:rPr>
              <a:t>  learned from 372,293</a:t>
            </a:r>
            <a:endParaRPr lang="en-US" sz="1500" dirty="0"/>
          </a:p>
        </p:txBody>
      </p:sp>
      <p:sp>
        <p:nvSpPr>
          <p:cNvPr id="12" name="Text 7"/>
          <p:cNvSpPr txBox="1"/>
          <p:nvPr/>
        </p:nvSpPr>
        <p:spPr>
          <a:xfrm>
            <a:off x="7604608" y="1463040"/>
            <a:ext cx="548640" cy="6858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3" name="how 3"/>
          <p:cNvSpPr/>
          <p:nvPr/>
        </p:nvSpPr>
        <p:spPr>
          <a:xfrm>
            <a:off x="8153248" y="1463040"/>
            <a:ext cx="2560320" cy="685800"/>
          </a:xfrm>
          <a:prstGeom prst="roundRect">
            <a:avLst>
              <a:gd name="adj" fmla="val 16000"/>
            </a:avLst>
          </a:prstGeom>
          <a:solidFill>
            <a:schemeClr val="bg2"/>
          </a:solidFill>
          <a:ln/>
        </p:spPr>
      </p:sp>
      <p:pic>
        <p:nvPicPr>
          <p:cNvPr id="14" name="how 3 icon" descr="preencoded.png">    </p:cNvPr>
          <p:cNvPicPr>
            <a:picLocks noChangeAspect="1"/>
          </p:cNvPicPr>
          <p:nvPr/>
        </p:nvPicPr>
        <p:blipFill>
          <a:blip r:embed="rId3"/>
          <a:stretch>
            <a:fillRect/>
          </a:stretch>
        </p:blipFill>
        <p:spPr>
          <a:xfrm>
            <a:off x="8336128" y="1627632"/>
            <a:ext cx="365760" cy="365760"/>
          </a:xfrm>
          <a:prstGeom prst="rect">
            <a:avLst/>
          </a:prstGeom>
        </p:spPr>
      </p:pic>
      <p:sp>
        <p:nvSpPr>
          <p:cNvPr id="15" name="Text 9"/>
          <p:cNvSpPr txBox="1"/>
          <p:nvPr/>
        </p:nvSpPr>
        <p:spPr>
          <a:xfrm>
            <a:off x="8811616" y="1463040"/>
            <a:ext cx="1828800" cy="685800"/>
          </a:xfrm>
          <a:prstGeom prst="rect">
            <a:avLst/>
          </a:prstGeom>
          <a:noFill/>
          <a:ln/>
        </p:spPr>
        <p:txBody>
          <a:bodyPr wrap="square" lIns="0" tIns="0" rIns="0" bIns="0" rtlCol="0" anchor="ctr"/>
          <a:lstStyle/>
          <a:p>
            <a:pPr indent="0" marL="0">
              <a:buNone/>
            </a:pPr>
            <a:r>
              <a:rPr lang="en-US" sz="1500" b="1" dirty="0">
                <a:solidFill>
                  <a:schemeClr val="tx1"/>
                </a:solidFill>
              </a:rPr>
              <a:t>Predicted chance</a:t>
            </a:r>
            <a:endParaRPr lang="en-US" sz="1500" dirty="0"/>
          </a:p>
        </p:txBody>
      </p:sp>
      <p:graphicFrame>
        <p:nvGraphicFramePr>
          <p:cNvPr id="16" name="We predicted ring" descr=""/>
          <p:cNvGraphicFramePr/>
          <p:nvPr/>
        </p:nvGraphicFramePr>
        <p:xfrm>
          <a:off x="2331720" y="2514600"/>
          <a:ext cx="2560320" cy="2560320"/>
        </p:xfrm>
        <a:graphic xmlns:a="http://schemas.openxmlformats.org/drawingml/2006/main">
          <a:graphicData uri="http://schemas.openxmlformats.org/drawingml/2006/chart">
            <c:chart xmlns:c="http://schemas.openxmlformats.org/drawingml/2006/chart" r:id="rId4"/>
          </a:graphicData>
        </a:graphic>
      </p:graphicFrame>
      <p:sp>
        <p:nvSpPr>
          <p:cNvPr id="17" name="Text 10"/>
          <p:cNvSpPr txBox="1"/>
          <p:nvPr/>
        </p:nvSpPr>
        <p:spPr>
          <a:xfrm>
            <a:off x="2331720" y="2514600"/>
            <a:ext cx="2560320" cy="2560320"/>
          </a:xfrm>
          <a:prstGeom prst="rect">
            <a:avLst/>
          </a:prstGeom>
          <a:noFill/>
          <a:ln/>
        </p:spPr>
        <p:txBody>
          <a:bodyPr wrap="square" lIns="0" tIns="0" rIns="0" bIns="0" rtlCol="0" anchor="ctr"/>
          <a:lstStyle/>
          <a:p>
            <a:pPr algn="ctr" indent="0" marL="0">
              <a:buNone/>
            </a:pPr>
            <a:r>
              <a:rPr lang="en-US" sz="5400" b="1" dirty="0">
                <a:solidFill>
                  <a:srgbClr val="7D8883"/>
                </a:solidFill>
                <a:latin typeface="Calibri" pitchFamily="34" charset="0"/>
                <a:ea typeface="Calibri" pitchFamily="34" charset="-122"/>
                <a:cs typeface="Calibri" pitchFamily="34" charset="-120"/>
              </a:rPr>
              <a:t>35%</a:t>
            </a:r>
            <a:endParaRPr lang="en-US" sz="5400" dirty="0"/>
          </a:p>
        </p:txBody>
      </p:sp>
      <p:sp>
        <p:nvSpPr>
          <p:cNvPr id="18" name="Text 11"/>
          <p:cNvSpPr txBox="1"/>
          <p:nvPr/>
        </p:nvSpPr>
        <p:spPr>
          <a:xfrm>
            <a:off x="1783080" y="5212080"/>
            <a:ext cx="3657600" cy="457200"/>
          </a:xfrm>
          <a:prstGeom prst="rect">
            <a:avLst/>
          </a:prstGeom>
          <a:noFill/>
          <a:ln/>
        </p:spPr>
        <p:txBody>
          <a:bodyPr wrap="square" lIns="0" tIns="0" rIns="0" bIns="0" rtlCol="0" anchor="t"/>
          <a:lstStyle/>
          <a:p>
            <a:pPr algn="ctr" indent="0" marL="0">
              <a:buNone/>
            </a:pPr>
            <a:r>
              <a:rPr lang="en-US" sz="2000" b="1" dirty="0">
                <a:solidFill>
                  <a:schemeClr val="accent4"/>
                </a:solidFill>
              </a:rPr>
              <a:t>We predicted</a:t>
            </a:r>
            <a:endParaRPr lang="en-US" sz="2000" dirty="0"/>
          </a:p>
        </p:txBody>
      </p:sp>
      <p:graphicFrame>
        <p:nvGraphicFramePr>
          <p:cNvPr id="19" name="Really got funded ring" descr=""/>
          <p:cNvGraphicFramePr/>
          <p:nvPr/>
        </p:nvGraphicFramePr>
        <p:xfrm>
          <a:off x="7132320" y="2514600"/>
          <a:ext cx="2560320" cy="2560320"/>
        </p:xfrm>
        <a:graphic xmlns:a="http://schemas.openxmlformats.org/drawingml/2006/main">
          <a:graphicData uri="http://schemas.openxmlformats.org/drawingml/2006/chart">
            <c:chart xmlns:c="http://schemas.openxmlformats.org/drawingml/2006/chart" r:id="rId5"/>
          </a:graphicData>
        </a:graphic>
      </p:graphicFrame>
      <p:sp>
        <p:nvSpPr>
          <p:cNvPr id="20" name="Text 12"/>
          <p:cNvSpPr txBox="1"/>
          <p:nvPr/>
        </p:nvSpPr>
        <p:spPr>
          <a:xfrm>
            <a:off x="7132320" y="2514600"/>
            <a:ext cx="2560320" cy="2560320"/>
          </a:xfrm>
          <a:prstGeom prst="rect">
            <a:avLst/>
          </a:prstGeom>
          <a:noFill/>
          <a:ln/>
        </p:spPr>
        <p:txBody>
          <a:bodyPr wrap="square" lIns="0" tIns="0" rIns="0" bIns="0" rtlCol="0" anchor="ctr"/>
          <a:lstStyle/>
          <a:p>
            <a:pPr algn="ctr" indent="0" marL="0">
              <a:buNone/>
            </a:pPr>
            <a:r>
              <a:rPr lang="en-US" sz="5400" b="1" dirty="0">
                <a:solidFill>
                  <a:srgbClr val="037A47"/>
                </a:solidFill>
                <a:latin typeface="Calibri" pitchFamily="34" charset="0"/>
                <a:ea typeface="Calibri" pitchFamily="34" charset="-122"/>
                <a:cs typeface="Calibri" pitchFamily="34" charset="-120"/>
              </a:rPr>
              <a:t>35%</a:t>
            </a:r>
            <a:endParaRPr lang="en-US" sz="5400" dirty="0"/>
          </a:p>
        </p:txBody>
      </p:sp>
      <p:sp>
        <p:nvSpPr>
          <p:cNvPr id="21" name="Text 13"/>
          <p:cNvSpPr txBox="1"/>
          <p:nvPr/>
        </p:nvSpPr>
        <p:spPr>
          <a:xfrm>
            <a:off x="6583680" y="5212080"/>
            <a:ext cx="3657600" cy="457200"/>
          </a:xfrm>
          <a:prstGeom prst="rect">
            <a:avLst/>
          </a:prstGeom>
          <a:noFill/>
          <a:ln/>
        </p:spPr>
        <p:txBody>
          <a:bodyPr wrap="square" lIns="0" tIns="0" rIns="0" bIns="0" rtlCol="0" anchor="t"/>
          <a:lstStyle/>
          <a:p>
            <a:pPr algn="ctr" indent="0" marL="0">
              <a:buNone/>
            </a:pPr>
            <a:r>
              <a:rPr lang="en-US" sz="2000" b="1" dirty="0">
                <a:solidFill>
                  <a:schemeClr val="tx1"/>
                </a:solidFill>
              </a:rPr>
              <a:t>Really got funded</a:t>
            </a:r>
            <a:endParaRPr lang="en-US" sz="2000" dirty="0"/>
          </a:p>
        </p:txBody>
      </p:sp>
      <p:sp>
        <p:nvSpPr>
          <p:cNvPr id="22" name="Text 14"/>
          <p:cNvSpPr txBox="1"/>
          <p:nvPr/>
        </p:nvSpPr>
        <p:spPr>
          <a:xfrm>
            <a:off x="5120640" y="3154680"/>
            <a:ext cx="1920240" cy="1280160"/>
          </a:xfrm>
          <a:prstGeom prst="rect">
            <a:avLst/>
          </a:prstGeom>
          <a:noFill/>
          <a:ln/>
        </p:spPr>
        <p:txBody>
          <a:bodyPr wrap="square" lIns="0" tIns="0" rIns="0" bIns="0" rtlCol="0" anchor="ctr"/>
          <a:lstStyle/>
          <a:p>
            <a:pPr algn="ctr" indent="0" marL="0">
              <a:buNone/>
            </a:pPr>
            <a:r>
              <a:rPr lang="en-US" sz="8800" b="1" dirty="0">
                <a:solidFill>
                  <a:schemeClr val="tx1"/>
                </a:solidFill>
                <a:latin typeface="Calibri" pitchFamily="34" charset="0"/>
                <a:ea typeface="Calibri" pitchFamily="34" charset="-122"/>
                <a:cs typeface="Calibri" pitchFamily="34" charset="-120"/>
              </a:rPr>
              <a:t>=</a:t>
            </a:r>
            <a:endParaRPr lang="en-US" sz="8800" dirty="0"/>
          </a:p>
        </p:txBody>
      </p:sp>
      <p:sp>
        <p:nvSpPr>
          <p:cNvPr id="23"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WHAT THE MODEL LOOKS AT</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Category and goal drive the prediction</a:t>
            </a:r>
            <a:endParaRPr lang="en-US" sz="3400" dirty="0"/>
          </a:p>
        </p:txBody>
      </p:sp>
      <p:graphicFrame>
        <p:nvGraphicFramePr>
          <p:cNvPr id="5" name="What the model looks at" descr=""/>
          <p:cNvGraphicFramePr/>
          <p:nvPr/>
        </p:nvGraphicFramePr>
        <p:xfrm>
          <a:off x="548640" y="1645920"/>
          <a:ext cx="11094415" cy="4572000"/>
        </p:xfrm>
        <a:graphic xmlns:a="http://schemas.openxmlformats.org/drawingml/2006/main">
          <a:graphicData uri="http://schemas.openxmlformats.org/drawingml/2006/chart">
            <c:chart xmlns:c="http://schemas.openxmlformats.org/drawingml/2006/chart" r:id="rId1"/>
          </a:graphicData>
        </a:graphic>
      </p:graphicFrame>
      <p:sp>
        <p:nvSpPr>
          <p:cNvPr id="6"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THE LAUNCH CHECK</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A board game, checked before launch</a:t>
            </a:r>
            <a:endParaRPr lang="en-US" sz="3400" dirty="0"/>
          </a:p>
        </p:txBody>
      </p:sp>
      <p:sp>
        <p:nvSpPr>
          <p:cNvPr id="5" name="plan card"/>
          <p:cNvSpPr/>
          <p:nvPr/>
        </p:nvSpPr>
        <p:spPr>
          <a:xfrm>
            <a:off x="548640" y="1783080"/>
            <a:ext cx="5212080" cy="4206240"/>
          </a:xfrm>
          <a:prstGeom prst="roundRect">
            <a:avLst>
              <a:gd name="adj" fmla="val 2609"/>
            </a:avLst>
          </a:prstGeom>
          <a:solidFill>
            <a:schemeClr val="bg1"/>
          </a:solidFill>
          <a:ln w="12700">
            <a:solidFill>
              <a:srgbClr val="F5F7F6"/>
            </a:solidFill>
            <a:prstDash val="solid"/>
          </a:ln>
        </p:spPr>
      </p:sp>
      <p:sp>
        <p:nvSpPr>
          <p:cNvPr id="6" name="Text 3"/>
          <p:cNvSpPr txBox="1"/>
          <p:nvPr/>
        </p:nvSpPr>
        <p:spPr>
          <a:xfrm>
            <a:off x="914400" y="2011680"/>
            <a:ext cx="4480560" cy="457200"/>
          </a:xfrm>
          <a:prstGeom prst="rect">
            <a:avLst/>
          </a:prstGeom>
          <a:noFill/>
          <a:ln/>
        </p:spPr>
        <p:txBody>
          <a:bodyPr wrap="square" lIns="0" tIns="0" rIns="0" bIns="0" rtlCol="0" anchor="t"/>
          <a:lstStyle/>
          <a:p>
            <a:pPr indent="0" marL="0">
              <a:buNone/>
            </a:pPr>
            <a:r>
              <a:rPr lang="en-US" sz="2200" b="1" dirty="0">
                <a:solidFill>
                  <a:schemeClr val="tx1"/>
                </a:solidFill>
              </a:rPr>
              <a:t>The plan</a:t>
            </a:r>
            <a:endParaRPr lang="en-US" sz="2200" dirty="0"/>
          </a:p>
        </p:txBody>
      </p:sp>
      <p:sp>
        <p:nvSpPr>
          <p:cNvPr id="7" name="input Category"/>
          <p:cNvSpPr/>
          <p:nvPr/>
        </p:nvSpPr>
        <p:spPr>
          <a:xfrm>
            <a:off x="914400" y="2651760"/>
            <a:ext cx="4480560" cy="594360"/>
          </a:xfrm>
          <a:prstGeom prst="roundRect">
            <a:avLst>
              <a:gd name="adj" fmla="val 12308"/>
            </a:avLst>
          </a:prstGeom>
          <a:solidFill>
            <a:schemeClr val="bg2"/>
          </a:solidFill>
          <a:ln/>
        </p:spPr>
      </p:sp>
      <p:sp>
        <p:nvSpPr>
          <p:cNvPr id="8" name="Text 5"/>
          <p:cNvSpPr txBox="1"/>
          <p:nvPr/>
        </p:nvSpPr>
        <p:spPr>
          <a:xfrm>
            <a:off x="1097280" y="2651760"/>
            <a:ext cx="2011680" cy="594360"/>
          </a:xfrm>
          <a:prstGeom prst="rect">
            <a:avLst/>
          </a:prstGeom>
          <a:noFill/>
          <a:ln/>
        </p:spPr>
        <p:txBody>
          <a:bodyPr wrap="square" lIns="0" tIns="0" rIns="0" bIns="0" rtlCol="0" anchor="ctr"/>
          <a:lstStyle/>
          <a:p>
            <a:pPr indent="0" marL="0">
              <a:buNone/>
            </a:pPr>
            <a:r>
              <a:rPr lang="en-US" sz="1400" dirty="0">
                <a:solidFill>
                  <a:schemeClr val="accent4"/>
                </a:solidFill>
              </a:rPr>
              <a:t>Category</a:t>
            </a:r>
            <a:endParaRPr lang="en-US" sz="1400" dirty="0"/>
          </a:p>
        </p:txBody>
      </p:sp>
      <p:sp>
        <p:nvSpPr>
          <p:cNvPr id="9" name="Text 6"/>
          <p:cNvSpPr txBox="1"/>
          <p:nvPr/>
        </p:nvSpPr>
        <p:spPr>
          <a:xfrm>
            <a:off x="2926080" y="2651760"/>
            <a:ext cx="2286000" cy="594360"/>
          </a:xfrm>
          <a:prstGeom prst="rect">
            <a:avLst/>
          </a:prstGeom>
          <a:noFill/>
          <a:ln/>
        </p:spPr>
        <p:txBody>
          <a:bodyPr wrap="square" lIns="0" tIns="0" rIns="0" bIns="0" rtlCol="0" anchor="ctr"/>
          <a:lstStyle/>
          <a:p>
            <a:pPr algn="r" indent="0" marL="0">
              <a:buNone/>
            </a:pPr>
            <a:r>
              <a:rPr lang="en-US" sz="1600" b="1" dirty="0">
                <a:solidFill>
                  <a:schemeClr val="tx1"/>
                </a:solidFill>
              </a:rPr>
              <a:t>Tabletop Games</a:t>
            </a:r>
            <a:endParaRPr lang="en-US" sz="1600" dirty="0"/>
          </a:p>
        </p:txBody>
      </p:sp>
      <p:sp>
        <p:nvSpPr>
          <p:cNvPr id="10" name="input Country"/>
          <p:cNvSpPr/>
          <p:nvPr/>
        </p:nvSpPr>
        <p:spPr>
          <a:xfrm>
            <a:off x="914400" y="3429000"/>
            <a:ext cx="4480560" cy="594360"/>
          </a:xfrm>
          <a:prstGeom prst="roundRect">
            <a:avLst>
              <a:gd name="adj" fmla="val 12308"/>
            </a:avLst>
          </a:prstGeom>
          <a:solidFill>
            <a:schemeClr val="bg2"/>
          </a:solidFill>
          <a:ln/>
        </p:spPr>
      </p:sp>
      <p:sp>
        <p:nvSpPr>
          <p:cNvPr id="11" name="Text 8"/>
          <p:cNvSpPr txBox="1"/>
          <p:nvPr/>
        </p:nvSpPr>
        <p:spPr>
          <a:xfrm>
            <a:off x="1097280" y="3429000"/>
            <a:ext cx="2011680" cy="594360"/>
          </a:xfrm>
          <a:prstGeom prst="rect">
            <a:avLst/>
          </a:prstGeom>
          <a:noFill/>
          <a:ln/>
        </p:spPr>
        <p:txBody>
          <a:bodyPr wrap="square" lIns="0" tIns="0" rIns="0" bIns="0" rtlCol="0" anchor="ctr"/>
          <a:lstStyle/>
          <a:p>
            <a:pPr indent="0" marL="0">
              <a:buNone/>
            </a:pPr>
            <a:r>
              <a:rPr lang="en-US" sz="1400" dirty="0">
                <a:solidFill>
                  <a:schemeClr val="accent4"/>
                </a:solidFill>
              </a:rPr>
              <a:t>Country</a:t>
            </a:r>
            <a:endParaRPr lang="en-US" sz="1400" dirty="0"/>
          </a:p>
        </p:txBody>
      </p:sp>
      <p:sp>
        <p:nvSpPr>
          <p:cNvPr id="12" name="Text 9"/>
          <p:cNvSpPr txBox="1"/>
          <p:nvPr/>
        </p:nvSpPr>
        <p:spPr>
          <a:xfrm>
            <a:off x="2926080" y="3429000"/>
            <a:ext cx="2286000" cy="594360"/>
          </a:xfrm>
          <a:prstGeom prst="rect">
            <a:avLst/>
          </a:prstGeom>
          <a:noFill/>
          <a:ln/>
        </p:spPr>
        <p:txBody>
          <a:bodyPr wrap="square" lIns="0" tIns="0" rIns="0" bIns="0" rtlCol="0" anchor="ctr"/>
          <a:lstStyle/>
          <a:p>
            <a:pPr algn="r" indent="0" marL="0">
              <a:buNone/>
            </a:pPr>
            <a:r>
              <a:rPr lang="en-US" sz="1600" b="1" dirty="0">
                <a:solidFill>
                  <a:schemeClr val="tx1"/>
                </a:solidFill>
              </a:rPr>
              <a:t>US</a:t>
            </a:r>
            <a:endParaRPr lang="en-US" sz="1600" dirty="0"/>
          </a:p>
        </p:txBody>
      </p:sp>
      <p:sp>
        <p:nvSpPr>
          <p:cNvPr id="13" name="input Funding goal"/>
          <p:cNvSpPr/>
          <p:nvPr/>
        </p:nvSpPr>
        <p:spPr>
          <a:xfrm>
            <a:off x="914400" y="4206240"/>
            <a:ext cx="4480560" cy="594360"/>
          </a:xfrm>
          <a:prstGeom prst="roundRect">
            <a:avLst>
              <a:gd name="adj" fmla="val 12308"/>
            </a:avLst>
          </a:prstGeom>
          <a:solidFill>
            <a:schemeClr val="bg2"/>
          </a:solidFill>
          <a:ln/>
        </p:spPr>
      </p:sp>
      <p:sp>
        <p:nvSpPr>
          <p:cNvPr id="14" name="Text 11"/>
          <p:cNvSpPr txBox="1"/>
          <p:nvPr/>
        </p:nvSpPr>
        <p:spPr>
          <a:xfrm>
            <a:off x="1097280" y="4206240"/>
            <a:ext cx="2011680" cy="594360"/>
          </a:xfrm>
          <a:prstGeom prst="rect">
            <a:avLst/>
          </a:prstGeom>
          <a:noFill/>
          <a:ln/>
        </p:spPr>
        <p:txBody>
          <a:bodyPr wrap="square" lIns="0" tIns="0" rIns="0" bIns="0" rtlCol="0" anchor="ctr"/>
          <a:lstStyle/>
          <a:p>
            <a:pPr indent="0" marL="0">
              <a:buNone/>
            </a:pPr>
            <a:r>
              <a:rPr lang="en-US" sz="1400" dirty="0">
                <a:solidFill>
                  <a:schemeClr val="accent4"/>
                </a:solidFill>
              </a:rPr>
              <a:t>Funding goal</a:t>
            </a:r>
            <a:endParaRPr lang="en-US" sz="1400" dirty="0"/>
          </a:p>
        </p:txBody>
      </p:sp>
      <p:sp>
        <p:nvSpPr>
          <p:cNvPr id="15" name="Text 12"/>
          <p:cNvSpPr txBox="1"/>
          <p:nvPr/>
        </p:nvSpPr>
        <p:spPr>
          <a:xfrm>
            <a:off x="2926080" y="4206240"/>
            <a:ext cx="2286000" cy="594360"/>
          </a:xfrm>
          <a:prstGeom prst="rect">
            <a:avLst/>
          </a:prstGeom>
          <a:noFill/>
          <a:ln/>
        </p:spPr>
        <p:txBody>
          <a:bodyPr wrap="square" lIns="0" tIns="0" rIns="0" bIns="0" rtlCol="0" anchor="ctr"/>
          <a:lstStyle/>
          <a:p>
            <a:pPr algn="r" indent="0" marL="0">
              <a:buNone/>
            </a:pPr>
            <a:r>
              <a:rPr lang="en-US" sz="1600" b="1" dirty="0">
                <a:solidFill>
                  <a:schemeClr val="tx1"/>
                </a:solidFill>
              </a:rPr>
              <a:t>$10,000</a:t>
            </a:r>
            <a:endParaRPr lang="en-US" sz="1600" dirty="0"/>
          </a:p>
        </p:txBody>
      </p:sp>
      <p:sp>
        <p:nvSpPr>
          <p:cNvPr id="16" name="input Campaign length"/>
          <p:cNvSpPr/>
          <p:nvPr/>
        </p:nvSpPr>
        <p:spPr>
          <a:xfrm>
            <a:off x="914400" y="4983480"/>
            <a:ext cx="4480560" cy="594360"/>
          </a:xfrm>
          <a:prstGeom prst="roundRect">
            <a:avLst>
              <a:gd name="adj" fmla="val 12308"/>
            </a:avLst>
          </a:prstGeom>
          <a:solidFill>
            <a:schemeClr val="bg2"/>
          </a:solidFill>
          <a:ln/>
        </p:spPr>
      </p:sp>
      <p:sp>
        <p:nvSpPr>
          <p:cNvPr id="17" name="Text 14"/>
          <p:cNvSpPr txBox="1"/>
          <p:nvPr/>
        </p:nvSpPr>
        <p:spPr>
          <a:xfrm>
            <a:off x="1097280" y="4983480"/>
            <a:ext cx="2011680" cy="594360"/>
          </a:xfrm>
          <a:prstGeom prst="rect">
            <a:avLst/>
          </a:prstGeom>
          <a:noFill/>
          <a:ln/>
        </p:spPr>
        <p:txBody>
          <a:bodyPr wrap="square" lIns="0" tIns="0" rIns="0" bIns="0" rtlCol="0" anchor="ctr"/>
          <a:lstStyle/>
          <a:p>
            <a:pPr indent="0" marL="0">
              <a:buNone/>
            </a:pPr>
            <a:r>
              <a:rPr lang="en-US" sz="1400" dirty="0">
                <a:solidFill>
                  <a:schemeClr val="accent4"/>
                </a:solidFill>
              </a:rPr>
              <a:t>Campaign length</a:t>
            </a:r>
            <a:endParaRPr lang="en-US" sz="1400" dirty="0"/>
          </a:p>
        </p:txBody>
      </p:sp>
      <p:sp>
        <p:nvSpPr>
          <p:cNvPr id="18" name="Text 15"/>
          <p:cNvSpPr txBox="1"/>
          <p:nvPr/>
        </p:nvSpPr>
        <p:spPr>
          <a:xfrm>
            <a:off x="2926080" y="4983480"/>
            <a:ext cx="2286000" cy="594360"/>
          </a:xfrm>
          <a:prstGeom prst="rect">
            <a:avLst/>
          </a:prstGeom>
          <a:noFill/>
          <a:ln/>
        </p:spPr>
        <p:txBody>
          <a:bodyPr wrap="square" lIns="0" tIns="0" rIns="0" bIns="0" rtlCol="0" anchor="ctr"/>
          <a:lstStyle/>
          <a:p>
            <a:pPr algn="r" indent="0" marL="0">
              <a:buNone/>
            </a:pPr>
            <a:r>
              <a:rPr lang="en-US" sz="1600" b="1" dirty="0">
                <a:solidFill>
                  <a:schemeClr val="tx1"/>
                </a:solidFill>
              </a:rPr>
              <a:t>30 days</a:t>
            </a:r>
            <a:endParaRPr lang="en-US" sz="1600" dirty="0"/>
          </a:p>
        </p:txBody>
      </p:sp>
      <p:sp>
        <p:nvSpPr>
          <p:cNvPr id="19" name="result card"/>
          <p:cNvSpPr/>
          <p:nvPr/>
        </p:nvSpPr>
        <p:spPr>
          <a:xfrm>
            <a:off x="6430975" y="1783080"/>
            <a:ext cx="5212080" cy="4206240"/>
          </a:xfrm>
          <a:prstGeom prst="roundRect">
            <a:avLst>
              <a:gd name="adj" fmla="val 2609"/>
            </a:avLst>
          </a:prstGeom>
          <a:solidFill>
            <a:schemeClr val="tx2"/>
          </a:solidFill>
          <a:ln/>
        </p:spPr>
      </p:sp>
      <p:sp>
        <p:nvSpPr>
          <p:cNvPr id="20" name="Text 17"/>
          <p:cNvSpPr txBox="1"/>
          <p:nvPr/>
        </p:nvSpPr>
        <p:spPr>
          <a:xfrm>
            <a:off x="6796735" y="2011680"/>
            <a:ext cx="4480560" cy="457200"/>
          </a:xfrm>
          <a:prstGeom prst="rect">
            <a:avLst/>
          </a:prstGeom>
          <a:noFill/>
          <a:ln/>
        </p:spPr>
        <p:txBody>
          <a:bodyPr wrap="square" lIns="0" tIns="0" rIns="0" bIns="0" rtlCol="0" anchor="t"/>
          <a:lstStyle/>
          <a:p>
            <a:pPr indent="0" marL="0">
              <a:buNone/>
            </a:pPr>
            <a:r>
              <a:rPr lang="en-US" sz="1800" dirty="0">
                <a:solidFill>
                  <a:schemeClr val="accent5"/>
                </a:solidFill>
              </a:rPr>
              <a:t>Chance of funding</a:t>
            </a:r>
            <a:endParaRPr lang="en-US" sz="1800" dirty="0"/>
          </a:p>
        </p:txBody>
      </p:sp>
      <p:sp>
        <p:nvSpPr>
          <p:cNvPr id="21" name="Text 18"/>
          <p:cNvSpPr txBox="1"/>
          <p:nvPr/>
        </p:nvSpPr>
        <p:spPr>
          <a:xfrm>
            <a:off x="6796735" y="2468880"/>
            <a:ext cx="4480560" cy="1371600"/>
          </a:xfrm>
          <a:prstGeom prst="rect">
            <a:avLst/>
          </a:prstGeom>
          <a:noFill/>
          <a:ln/>
        </p:spPr>
        <p:txBody>
          <a:bodyPr wrap="square" lIns="0" tIns="0" rIns="0" bIns="0" rtlCol="0" anchor="t"/>
          <a:lstStyle/>
          <a:p>
            <a:pPr indent="0" marL="0">
              <a:buNone/>
            </a:pPr>
            <a:r>
              <a:rPr lang="en-US" sz="8800" b="1" dirty="0">
                <a:solidFill>
                  <a:schemeClr val="accent1"/>
                </a:solidFill>
                <a:latin typeface="Calibri" pitchFamily="34" charset="0"/>
                <a:ea typeface="Calibri" pitchFamily="34" charset="-122"/>
                <a:cs typeface="Calibri" pitchFamily="34" charset="-120"/>
              </a:rPr>
              <a:t>51%</a:t>
            </a:r>
            <a:endParaRPr lang="en-US" sz="8800" dirty="0"/>
          </a:p>
        </p:txBody>
      </p:sp>
      <p:sp>
        <p:nvSpPr>
          <p:cNvPr id="22" name="band pill"/>
          <p:cNvSpPr/>
          <p:nvPr/>
        </p:nvSpPr>
        <p:spPr>
          <a:xfrm>
            <a:off x="6796735" y="3931920"/>
            <a:ext cx="2194560" cy="411480"/>
          </a:xfrm>
          <a:prstGeom prst="roundRect">
            <a:avLst>
              <a:gd name="adj" fmla="val 13333"/>
            </a:avLst>
          </a:prstGeom>
          <a:solidFill>
            <a:schemeClr val="accent1"/>
          </a:solidFill>
          <a:ln/>
        </p:spPr>
      </p:sp>
      <p:sp>
        <p:nvSpPr>
          <p:cNvPr id="23" name="Text 20"/>
          <p:cNvSpPr txBox="1"/>
          <p:nvPr/>
        </p:nvSpPr>
        <p:spPr>
          <a:xfrm>
            <a:off x="6796735" y="3931920"/>
            <a:ext cx="2194560" cy="411480"/>
          </a:xfrm>
          <a:prstGeom prst="rect">
            <a:avLst/>
          </a:prstGeom>
          <a:noFill/>
          <a:ln/>
        </p:spPr>
        <p:txBody>
          <a:bodyPr wrap="square" lIns="0" tIns="0" rIns="0" bIns="0" rtlCol="0" anchor="ctr"/>
          <a:lstStyle/>
          <a:p>
            <a:pPr algn="ctr" indent="0" marL="0">
              <a:buNone/>
            </a:pPr>
            <a:r>
              <a:rPr lang="en-US" sz="1300" b="1" dirty="0">
                <a:solidFill>
                  <a:schemeClr val="tx2"/>
                </a:solidFill>
              </a:rPr>
              <a:t>ABOVE AVERAGE</a:t>
            </a:r>
            <a:endParaRPr lang="en-US" sz="1300" dirty="0"/>
          </a:p>
        </p:txBody>
      </p:sp>
      <p:sp>
        <p:nvSpPr>
          <p:cNvPr id="24" name="example chance track"/>
          <p:cNvSpPr/>
          <p:nvPr/>
        </p:nvSpPr>
        <p:spPr>
          <a:xfrm>
            <a:off x="6796735" y="4709160"/>
            <a:ext cx="4480560" cy="201168"/>
          </a:xfrm>
          <a:prstGeom prst="roundRect">
            <a:avLst>
              <a:gd name="adj" fmla="val 50000"/>
            </a:avLst>
          </a:prstGeom>
          <a:solidFill>
            <a:srgbClr val="3A423E"/>
          </a:solidFill>
          <a:ln/>
        </p:spPr>
      </p:sp>
      <p:sp>
        <p:nvSpPr>
          <p:cNvPr id="25" name="example chance fill"/>
          <p:cNvSpPr/>
          <p:nvPr/>
        </p:nvSpPr>
        <p:spPr>
          <a:xfrm>
            <a:off x="6796735" y="4709160"/>
            <a:ext cx="2289566" cy="201168"/>
          </a:xfrm>
          <a:prstGeom prst="roundRect">
            <a:avLst>
              <a:gd name="adj" fmla="val 50000"/>
            </a:avLst>
          </a:prstGeom>
          <a:solidFill>
            <a:schemeClr val="accent1"/>
          </a:solidFill>
          <a:ln/>
        </p:spPr>
      </p:sp>
      <p:sp>
        <p:nvSpPr>
          <p:cNvPr id="26" name="average marker"/>
          <p:cNvSpPr/>
          <p:nvPr/>
        </p:nvSpPr>
        <p:spPr>
          <a:xfrm>
            <a:off x="8391449" y="4617720"/>
            <a:ext cx="36576" cy="384048"/>
          </a:xfrm>
          <a:prstGeom prst="rect">
            <a:avLst/>
          </a:prstGeom>
          <a:solidFill>
            <a:schemeClr val="bg1"/>
          </a:solidFill>
          <a:ln/>
        </p:spPr>
      </p:sp>
      <p:sp>
        <p:nvSpPr>
          <p:cNvPr id="27" name="Text 24"/>
          <p:cNvSpPr txBox="1"/>
          <p:nvPr/>
        </p:nvSpPr>
        <p:spPr>
          <a:xfrm>
            <a:off x="6796735" y="5074920"/>
            <a:ext cx="4480560" cy="365760"/>
          </a:xfrm>
          <a:prstGeom prst="rect">
            <a:avLst/>
          </a:prstGeom>
          <a:noFill/>
          <a:ln/>
        </p:spPr>
        <p:txBody>
          <a:bodyPr wrap="square" lIns="0" tIns="0" rIns="0" bIns="0" rtlCol="0" anchor="t"/>
          <a:lstStyle/>
          <a:p>
            <a:pPr indent="0" marL="0">
              <a:buNone/>
            </a:pPr>
            <a:r>
              <a:rPr lang="en-US" sz="1400" dirty="0">
                <a:solidFill>
                  <a:schemeClr val="accent5"/>
                </a:solidFill>
              </a:rPr>
              <a:t>Average campaign: 36%</a:t>
            </a:r>
            <a:endParaRPr lang="en-US" sz="1400" dirty="0"/>
          </a:p>
        </p:txBody>
      </p:sp>
      <p:sp>
        <p:nvSpPr>
          <p:cNvPr id="28"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WHAT THE LAUNCH CHECK CANNOT SEE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Limitations &amp; Constraints</a:t>
            </a:r>
            <a:endParaRPr lang="en-US" sz="3400" dirty="0"/>
          </a:p>
        </p:txBody>
      </p:sp>
      <p:pic>
        <p:nvPicPr>
          <p:cNvPr id="5" name="iceberg" descr="Iceberg: the Launch Check sees only the plan above the water; video and rewards, fans, marketing and today's market lie below">    </p:cNvPr>
          <p:cNvPicPr>
            <a:picLocks noChangeAspect="1"/>
          </p:cNvPicPr>
          <p:nvPr/>
        </p:nvPicPr>
        <p:blipFill>
          <a:blip r:embed="rId1"/>
          <a:stretch>
            <a:fillRect/>
          </a:stretch>
        </p:blipFill>
        <p:spPr>
          <a:xfrm>
            <a:off x="914400" y="1554480"/>
            <a:ext cx="10362895" cy="4559674"/>
          </a:xfrm>
          <a:prstGeom prst="rect">
            <a:avLst/>
          </a:prstGeom>
        </p:spPr>
      </p:pic>
      <p:sp>
        <p:nvSpPr>
          <p:cNvPr id="6"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Insights &amp; Recommendations</a:t>
            </a:r>
            <a:endParaRPr lang="en-US" sz="3400" dirty="0"/>
          </a:p>
        </p:txBody>
      </p:sp>
      <p:sp>
        <p:nvSpPr>
          <p:cNvPr id="4" name="recommendation 1"/>
          <p:cNvSpPr/>
          <p:nvPr/>
        </p:nvSpPr>
        <p:spPr>
          <a:xfrm>
            <a:off x="548640" y="1737360"/>
            <a:ext cx="11094415" cy="1188720"/>
          </a:xfrm>
          <a:prstGeom prst="roundRect">
            <a:avLst>
              <a:gd name="adj" fmla="val 9231"/>
            </a:avLst>
          </a:prstGeom>
          <a:solidFill>
            <a:schemeClr val="bg1"/>
          </a:solidFill>
          <a:ln w="12700">
            <a:solidFill>
              <a:srgbClr val="F5F7F6"/>
            </a:solidFill>
            <a:prstDash val="solid"/>
          </a:ln>
        </p:spPr>
      </p:sp>
      <p:sp>
        <p:nvSpPr>
          <p:cNvPr id="5" name="number 1"/>
          <p:cNvSpPr/>
          <p:nvPr/>
        </p:nvSpPr>
        <p:spPr>
          <a:xfrm>
            <a:off x="822960" y="1965960"/>
            <a:ext cx="731520" cy="731520"/>
          </a:xfrm>
          <a:prstGeom prst="roundRect">
            <a:avLst>
              <a:gd name="adj" fmla="val 12500"/>
            </a:avLst>
          </a:prstGeom>
          <a:solidFill>
            <a:schemeClr val="accent1"/>
          </a:solidFill>
          <a:ln/>
        </p:spPr>
      </p:sp>
      <p:sp>
        <p:nvSpPr>
          <p:cNvPr id="6" name="Text 3"/>
          <p:cNvSpPr txBox="1"/>
          <p:nvPr/>
        </p:nvSpPr>
        <p:spPr>
          <a:xfrm>
            <a:off x="822960" y="196596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7" name="Text 4"/>
          <p:cNvSpPr txBox="1"/>
          <p:nvPr/>
        </p:nvSpPr>
        <p:spPr>
          <a:xfrm>
            <a:off x="1874520" y="1920240"/>
            <a:ext cx="9601200" cy="457200"/>
          </a:xfrm>
          <a:prstGeom prst="rect">
            <a:avLst/>
          </a:prstGeom>
          <a:noFill/>
          <a:ln/>
        </p:spPr>
        <p:txBody>
          <a:bodyPr wrap="square" lIns="0" tIns="0" rIns="0" bIns="0" rtlCol="0" anchor="t"/>
          <a:lstStyle/>
          <a:p>
            <a:pPr indent="0" marL="0">
              <a:buNone/>
            </a:pPr>
            <a:r>
              <a:rPr lang="en-US" sz="2400" b="1" dirty="0">
                <a:solidFill>
                  <a:schemeClr val="tx1"/>
                </a:solidFill>
              </a:rPr>
              <a:t>Set a realistic goal</a:t>
            </a:r>
            <a:endParaRPr lang="en-US" sz="2400" dirty="0"/>
          </a:p>
        </p:txBody>
      </p:sp>
      <p:sp>
        <p:nvSpPr>
          <p:cNvPr id="8" name="Text 5"/>
          <p:cNvSpPr txBox="1"/>
          <p:nvPr/>
        </p:nvSpPr>
        <p:spPr>
          <a:xfrm>
            <a:off x="1874520" y="2395728"/>
            <a:ext cx="9601200" cy="365760"/>
          </a:xfrm>
          <a:prstGeom prst="rect">
            <a:avLst/>
          </a:prstGeom>
          <a:noFill/>
          <a:ln/>
        </p:spPr>
        <p:txBody>
          <a:bodyPr wrap="square" lIns="0" tIns="0" rIns="0" bIns="0" rtlCol="0" anchor="t"/>
          <a:lstStyle/>
          <a:p>
            <a:pPr indent="0" marL="0">
              <a:buNone/>
            </a:pPr>
            <a:r>
              <a:rPr lang="en-US" sz="1700" dirty="0">
                <a:solidFill>
                  <a:schemeClr val="accent4"/>
                </a:solidFill>
              </a:rPr>
              <a:t>up to $1k: 49% · over $100k: 6%</a:t>
            </a:r>
            <a:endParaRPr lang="en-US" sz="1700" dirty="0"/>
          </a:p>
        </p:txBody>
      </p:sp>
      <p:sp>
        <p:nvSpPr>
          <p:cNvPr id="9" name="recommendation 2"/>
          <p:cNvSpPr/>
          <p:nvPr/>
        </p:nvSpPr>
        <p:spPr>
          <a:xfrm>
            <a:off x="548640" y="3200400"/>
            <a:ext cx="11094415" cy="1188720"/>
          </a:xfrm>
          <a:prstGeom prst="roundRect">
            <a:avLst>
              <a:gd name="adj" fmla="val 9231"/>
            </a:avLst>
          </a:prstGeom>
          <a:solidFill>
            <a:schemeClr val="bg1"/>
          </a:solidFill>
          <a:ln w="12700">
            <a:solidFill>
              <a:srgbClr val="F5F7F6"/>
            </a:solidFill>
            <a:prstDash val="solid"/>
          </a:ln>
        </p:spPr>
      </p:sp>
      <p:sp>
        <p:nvSpPr>
          <p:cNvPr id="10" name="number 2"/>
          <p:cNvSpPr/>
          <p:nvPr/>
        </p:nvSpPr>
        <p:spPr>
          <a:xfrm>
            <a:off x="822960" y="3429000"/>
            <a:ext cx="731520" cy="731520"/>
          </a:xfrm>
          <a:prstGeom prst="roundRect">
            <a:avLst>
              <a:gd name="adj" fmla="val 12500"/>
            </a:avLst>
          </a:prstGeom>
          <a:solidFill>
            <a:schemeClr val="accent1"/>
          </a:solidFill>
          <a:ln/>
        </p:spPr>
      </p:sp>
      <p:sp>
        <p:nvSpPr>
          <p:cNvPr id="11" name="Text 8"/>
          <p:cNvSpPr txBox="1"/>
          <p:nvPr/>
        </p:nvSpPr>
        <p:spPr>
          <a:xfrm>
            <a:off x="822960" y="342900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2" name="Text 9"/>
          <p:cNvSpPr txBox="1"/>
          <p:nvPr/>
        </p:nvSpPr>
        <p:spPr>
          <a:xfrm>
            <a:off x="1874520" y="3383280"/>
            <a:ext cx="9601200" cy="457200"/>
          </a:xfrm>
          <a:prstGeom prst="rect">
            <a:avLst/>
          </a:prstGeom>
          <a:noFill/>
          <a:ln/>
        </p:spPr>
        <p:txBody>
          <a:bodyPr wrap="square" lIns="0" tIns="0" rIns="0" bIns="0" rtlCol="0" anchor="t"/>
          <a:lstStyle/>
          <a:p>
            <a:pPr indent="0" marL="0">
              <a:buNone/>
            </a:pPr>
            <a:r>
              <a:rPr lang="en-US" sz="2400" b="1" dirty="0">
                <a:solidFill>
                  <a:schemeClr val="tx1"/>
                </a:solidFill>
              </a:rPr>
              <a:t>Pick your end date on purpose</a:t>
            </a:r>
            <a:endParaRPr lang="en-US" sz="2400" dirty="0"/>
          </a:p>
        </p:txBody>
      </p:sp>
      <p:sp>
        <p:nvSpPr>
          <p:cNvPr id="13" name="Text 10"/>
          <p:cNvSpPr txBox="1"/>
          <p:nvPr/>
        </p:nvSpPr>
        <p:spPr>
          <a:xfrm>
            <a:off x="1874520" y="3858768"/>
            <a:ext cx="9601200" cy="365760"/>
          </a:xfrm>
          <a:prstGeom prst="rect">
            <a:avLst/>
          </a:prstGeom>
          <a:noFill/>
          <a:ln/>
        </p:spPr>
        <p:txBody>
          <a:bodyPr wrap="square" lIns="0" tIns="0" rIns="0" bIns="0" rtlCol="0" anchor="t"/>
          <a:lstStyle/>
          <a:p>
            <a:pPr indent="0" marL="0">
              <a:buNone/>
            </a:pPr>
            <a:r>
              <a:rPr lang="en-US" sz="1700" dirty="0">
                <a:solidFill>
                  <a:schemeClr val="accent4"/>
                </a:solidFill>
              </a:rPr>
              <a:t>30 days: 32% · 60 days: 19%</a:t>
            </a:r>
            <a:endParaRPr lang="en-US" sz="1700" dirty="0"/>
          </a:p>
        </p:txBody>
      </p:sp>
      <p:sp>
        <p:nvSpPr>
          <p:cNvPr id="14" name="recommendation 3"/>
          <p:cNvSpPr/>
          <p:nvPr/>
        </p:nvSpPr>
        <p:spPr>
          <a:xfrm>
            <a:off x="548640" y="4663440"/>
            <a:ext cx="11094415" cy="1188720"/>
          </a:xfrm>
          <a:prstGeom prst="roundRect">
            <a:avLst>
              <a:gd name="adj" fmla="val 9231"/>
            </a:avLst>
          </a:prstGeom>
          <a:solidFill>
            <a:schemeClr val="bg1"/>
          </a:solidFill>
          <a:ln w="12700">
            <a:solidFill>
              <a:srgbClr val="F5F7F6"/>
            </a:solidFill>
            <a:prstDash val="solid"/>
          </a:ln>
        </p:spPr>
      </p:sp>
      <p:sp>
        <p:nvSpPr>
          <p:cNvPr id="15" name="number 3"/>
          <p:cNvSpPr/>
          <p:nvPr/>
        </p:nvSpPr>
        <p:spPr>
          <a:xfrm>
            <a:off x="822960" y="4892040"/>
            <a:ext cx="731520" cy="731520"/>
          </a:xfrm>
          <a:prstGeom prst="roundRect">
            <a:avLst>
              <a:gd name="adj" fmla="val 12500"/>
            </a:avLst>
          </a:prstGeom>
          <a:solidFill>
            <a:schemeClr val="accent1"/>
          </a:solidFill>
          <a:ln/>
        </p:spPr>
      </p:sp>
      <p:sp>
        <p:nvSpPr>
          <p:cNvPr id="16" name="Text 13"/>
          <p:cNvSpPr txBox="1"/>
          <p:nvPr/>
        </p:nvSpPr>
        <p:spPr>
          <a:xfrm>
            <a:off x="822960" y="4892040"/>
            <a:ext cx="731520" cy="73152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7" name="Text 14"/>
          <p:cNvSpPr txBox="1"/>
          <p:nvPr/>
        </p:nvSpPr>
        <p:spPr>
          <a:xfrm>
            <a:off x="1874520" y="4846320"/>
            <a:ext cx="9601200" cy="457200"/>
          </a:xfrm>
          <a:prstGeom prst="rect">
            <a:avLst/>
          </a:prstGeom>
          <a:noFill/>
          <a:ln/>
        </p:spPr>
        <p:txBody>
          <a:bodyPr wrap="square" lIns="0" tIns="0" rIns="0" bIns="0" rtlCol="0" anchor="t"/>
          <a:lstStyle/>
          <a:p>
            <a:pPr indent="0" marL="0">
              <a:buNone/>
            </a:pPr>
            <a:r>
              <a:rPr lang="en-US" sz="2400" b="1" dirty="0">
                <a:solidFill>
                  <a:schemeClr val="tx1"/>
                </a:solidFill>
              </a:rPr>
              <a:t>Know your category</a:t>
            </a:r>
            <a:endParaRPr lang="en-US" sz="2400" dirty="0"/>
          </a:p>
        </p:txBody>
      </p:sp>
      <p:sp>
        <p:nvSpPr>
          <p:cNvPr id="18" name="Text 15"/>
          <p:cNvSpPr txBox="1"/>
          <p:nvPr/>
        </p:nvSpPr>
        <p:spPr>
          <a:xfrm>
            <a:off x="1874520" y="5321808"/>
            <a:ext cx="9601200" cy="365760"/>
          </a:xfrm>
          <a:prstGeom prst="rect">
            <a:avLst/>
          </a:prstGeom>
          <a:noFill/>
          <a:ln/>
        </p:spPr>
        <p:txBody>
          <a:bodyPr wrap="square" lIns="0" tIns="0" rIns="0" bIns="0" rtlCol="0" anchor="t"/>
          <a:lstStyle/>
          <a:p>
            <a:pPr indent="0" marL="0">
              <a:buNone/>
            </a:pPr>
            <a:r>
              <a:rPr lang="en-US" sz="1700" dirty="0">
                <a:solidFill>
                  <a:schemeClr val="accent4"/>
                </a:solidFill>
              </a:rPr>
              <a:t>Dance 62% · Technology 20%</a:t>
            </a:r>
            <a:endParaRPr lang="en-US" sz="1700" dirty="0"/>
          </a:p>
        </p:txBody>
      </p:sp>
      <p:sp>
        <p:nvSpPr>
          <p:cNvPr id="19"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endParaRPr lang="en-US" sz="1200" dirty="0"/>
          </a:p>
        </p:txBody>
      </p:sp>
      <p:sp>
        <p:nvSpPr>
          <p:cNvPr id="20"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2377440"/>
            <a:ext cx="11094415" cy="1097280"/>
          </a:xfrm>
          <a:prstGeom prst="rect">
            <a:avLst/>
          </a:prstGeom>
          <a:noFill/>
          <a:ln/>
        </p:spPr>
        <p:txBody>
          <a:bodyPr wrap="square" lIns="0" tIns="0" rIns="0" bIns="0" rtlCol="0" anchor="ctr">
            <a:normAutofit/>
          </a:bodyPr>
          <a:lstStyle/>
          <a:p>
            <a:pPr algn="ctr" indent="0" marL="0">
              <a:buNone/>
            </a:pPr>
            <a:r>
              <a:rPr lang="en-US" sz="4800" b="1" dirty="0">
                <a:solidFill>
                  <a:schemeClr val="bg1"/>
                </a:solidFill>
                <a:latin typeface="Calibri" pitchFamily="34" charset="0"/>
                <a:ea typeface="Calibri" pitchFamily="34" charset="-122"/>
                <a:cs typeface="Calibri" pitchFamily="34" charset="-120"/>
              </a:rPr>
              <a:t>Thank you for your attention.</a:t>
            </a:r>
            <a:endParaRPr lang="en-US" sz="4800" dirty="0"/>
          </a:p>
        </p:txBody>
      </p:sp>
      <p:sp>
        <p:nvSpPr>
          <p:cNvPr id="4" name="Text 1"/>
          <p:cNvSpPr txBox="1"/>
          <p:nvPr/>
        </p:nvSpPr>
        <p:spPr>
          <a:xfrm>
            <a:off x="548640" y="3566160"/>
            <a:ext cx="11094415" cy="731520"/>
          </a:xfrm>
          <a:prstGeom prst="rect">
            <a:avLst/>
          </a:prstGeom>
          <a:noFill/>
          <a:ln/>
        </p:spPr>
        <p:txBody>
          <a:bodyPr wrap="square" lIns="0" tIns="0" rIns="0" bIns="0" rtlCol="0" anchor="ctr"/>
          <a:lstStyle/>
          <a:p>
            <a:pPr algn="ctr" indent="0" marL="0">
              <a:buNone/>
            </a:pPr>
            <a:r>
              <a:rPr lang="en-US" sz="3200" b="1" dirty="0">
                <a:solidFill>
                  <a:schemeClr val="accent1"/>
                </a:solidFill>
                <a:latin typeface="Calibri" pitchFamily="34" charset="0"/>
                <a:ea typeface="Calibri" pitchFamily="34" charset="-122"/>
                <a:cs typeface="Calibri" pitchFamily="34" charset="-120"/>
              </a:rPr>
              <a:t>Questions?</a:t>
            </a:r>
            <a:endParaRPr lang="en-US" sz="3200" dirty="0"/>
          </a:p>
        </p:txBody>
      </p:sp>
      <p:sp>
        <p:nvSpPr>
          <p:cNvPr id="5" name="accent rule"/>
          <p:cNvSpPr/>
          <p:nvPr/>
        </p:nvSpPr>
        <p:spPr>
          <a:xfrm>
            <a:off x="5684368" y="4572000"/>
            <a:ext cx="822960" cy="82296"/>
          </a:xfrm>
          <a:prstGeom prst="roundRect">
            <a:avLst>
              <a:gd name="adj" fmla="val 50000"/>
            </a:avLst>
          </a:prstGeom>
          <a:solidFill>
            <a:schemeClr val="accent1"/>
          </a:solidFill>
          <a:ln/>
        </p:spPr>
      </p:sp>
      <p:sp>
        <p:nvSpPr>
          <p:cNvPr id="6" name="Text 3"/>
          <p:cNvSpPr txBox="1"/>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chemeClr val="accent5"/>
                </a:solidFill>
              </a:rPr>
              <a:t>16</a:t>
            </a:r>
            <a:endParaRPr lang="en-US" sz="1000" dirty="0"/>
          </a:p>
        </p:txBody>
      </p:sp>
      <p:sp>
        <p:nvSpPr>
          <p:cNvPr id="7" name="Text 0"/>
          <p:cNvSpPr/>
          <p:nvPr>
            <p:ph idx="100" type="body" hasCustomPrompt="1"/>
          </p:nvPr>
        </p:nvSpPr>
        <p:spPr>
          <a:xfrm>
            <a:off x="548640" y="1417320"/>
            <a:ext cx="8229600" cy="365760"/>
          </a:xfrm>
          <a:prstGeom prst="rect">
            <a:avLst/>
          </a:prstGeom>
          <a:noFill/>
          <a:ln/>
        </p:spPr>
        <p:txBody>
          <a:bodyPr wrap="square" lIns="0" tIns="0" rIns="0" bIns="0" rtlCol="0"/>
          <a:lstStyle/>
          <a:p>
            <a:pPr indent="0" marL="0">
              <a:buNone/>
            </a:pPr>
            <a:endParaRPr lang="en-US" sz="1400" dirty="0"/>
          </a:p>
        </p:txBody>
      </p:sp>
      <p:sp>
        <p:nvSpPr>
          <p:cNvPr id="8" name="Text 0"/>
          <p:cNvSpPr/>
          <p:nvPr>
            <p:ph idx="101" type="title" hasCustomPrompt="1"/>
          </p:nvPr>
        </p:nvSpPr>
        <p:spPr>
          <a:xfrm>
            <a:off x="548640" y="1828800"/>
            <a:ext cx="8412480" cy="2011680"/>
          </a:xfrm>
          <a:prstGeom prst="rect">
            <a:avLst/>
          </a:prstGeom>
          <a:noFill/>
          <a:ln/>
        </p:spPr>
        <p:txBody>
          <a:bodyPr wrap="square" lIns="0" tIns="0" rIns="0" bIns="0" rtlCol="0" anchor="t"/>
          <a:lstStyle/>
          <a:p>
            <a:pPr algn="l" indent="0" marL="0">
              <a:buNone/>
            </a:pPr>
            <a:endParaRPr lang="en-US" sz="4800" dirty="0"/>
          </a:p>
        </p:txBody>
      </p:sp>
      <p:sp>
        <p:nvSpPr>
          <p:cNvPr id="9" name="Text 0"/>
          <p:cNvSpPr/>
          <p:nvPr>
            <p:ph idx="102" type="body" hasCustomPrompt="1"/>
          </p:nvPr>
        </p:nvSpPr>
        <p:spPr>
          <a:xfrm>
            <a:off x="548640" y="3931920"/>
            <a:ext cx="7863840" cy="914400"/>
          </a:xfrm>
          <a:prstGeom prst="rect">
            <a:avLst/>
          </a:prstGeom>
          <a:noFill/>
          <a:ln/>
        </p:spPr>
        <p:txBody>
          <a:bodyPr wrap="square" lIns="0" tIns="0" rIns="0" bIns="0" rtlCol="0" anchor="t"/>
          <a:lstStyle/>
          <a:p>
            <a:pPr indent="0" marL="0">
              <a:buNone/>
            </a:pPr>
            <a:endParaRPr lang="en-US" sz="2000" dirty="0"/>
          </a:p>
        </p:txBody>
      </p:sp>
      <p:sp>
        <p:nvSpPr>
          <p:cNvPr id="10" name="Text 0"/>
          <p:cNvSpPr/>
          <p:nvPr>
            <p:ph idx="103" type="body" hasCustomPrompt="1"/>
          </p:nvPr>
        </p:nvSpPr>
        <p:spPr>
          <a:xfrm>
            <a:off x="548640" y="5943600"/>
            <a:ext cx="8229600" cy="365760"/>
          </a:xfrm>
          <a:prstGeom prst="rect">
            <a:avLst/>
          </a:prstGeom>
          <a:noFill/>
          <a:ln/>
        </p:spPr>
        <p:txBody>
          <a:bodyPr wrap="square" lIns="0" tIns="0" rIns="0" bIns="0" rtlCol="0"/>
          <a:lstStyle/>
          <a:p>
            <a:pPr indent="0" marL="0">
              <a:buNone/>
            </a:pPr>
            <a:endParaRPr lang="en-US" sz="1200" dirty="0"/>
          </a:p>
        </p:txBody>
      </p:sp>
    </p:spTree>
  </p:cSld>
  <p:clrMapOvr>
    <a:masterClrMapping/>
  </p:clrMapOvr>
</p:sld>
</file>

<file path=ppt/theme/theme1.xml><?xml version="1.0" encoding="utf-8"?>
<a:theme xmlns:a="http://schemas.openxmlformats.org/drawingml/2006/main" name="Launch Check">
  <a:themeElements>
    <a:clrScheme name="Launch Check">
      <a:dk1>
        <a:srgbClr val="1F2421"/>
      </a:dk1>
      <a:lt1>
        <a:srgbClr val="FFFFFF"/>
      </a:lt1>
      <a:dk2>
        <a:srgbClr val="1F2421"/>
      </a:dk2>
      <a:lt2>
        <a:srgbClr val="F5F7F6"/>
      </a:lt2>
      <a:accent1>
        <a:srgbClr val="05CE78"/>
      </a:accent1>
      <a:accent2>
        <a:srgbClr val="2E3431"/>
      </a:accent2>
      <a:accent3>
        <a:srgbClr val="8FE3BB"/>
      </a:accent3>
      <a:accent4>
        <a:srgbClr val="5D6863"/>
      </a:accent4>
      <a:accent5>
        <a:srgbClr val="C9D3CE"/>
      </a:accent5>
      <a:accent6>
        <a:srgbClr val="037A47"/>
      </a:accent6>
      <a:hlink>
        <a:srgbClr val="037A47"/>
      </a:hlink>
      <a:folHlink>
        <a:srgbClr val="5D6863"/>
      </a:folHlink>
    </a:clrScheme>
    <a:fontScheme name="Launch Ch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neuefische Data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your Kickstarter project get funded?</dc:title>
  <dc:subject>Client presentation</dc:subject>
  <dc:creator>Christian Balan, Syed Kashif Ali Kazmi, Furkan Y.</dc:creator>
  <cp:lastModifiedBy>Christian Balan, Syed Kashif Ali Kazmi, Furkan Y.</cp:lastModifiedBy>
  <cp:revision>1</cp:revision>
  <dcterms:created xsi:type="dcterms:W3CDTF">2026-10-23T10:22:18Z</dcterms:created>
  <dcterms:modified xsi:type="dcterms:W3CDTF">2026-10-23T10:22:18Z</dcterms:modified>
</cp:coreProperties>
</file>